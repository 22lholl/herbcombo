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10.xml" ContentType="application/vnd.openxmlformats-officedocument.presentationml.notesSlide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293" r:id="rId3"/>
    <p:sldId id="298" r:id="rId4"/>
    <p:sldId id="297" r:id="rId5"/>
    <p:sldId id="296" r:id="rId6"/>
    <p:sldId id="295" r:id="rId7"/>
    <p:sldId id="306" r:id="rId8"/>
    <p:sldId id="308" r:id="rId9"/>
    <p:sldId id="304" r:id="rId10"/>
    <p:sldId id="305" r:id="rId11"/>
    <p:sldId id="299" r:id="rId12"/>
    <p:sldId id="303" r:id="rId13"/>
    <p:sldId id="309" r:id="rId14"/>
    <p:sldId id="265" r:id="rId15"/>
    <p:sldId id="267" r:id="rId16"/>
    <p:sldId id="310" r:id="rId17"/>
    <p:sldId id="268" r:id="rId18"/>
    <p:sldId id="270" r:id="rId19"/>
    <p:sldId id="271" r:id="rId20"/>
    <p:sldId id="318" r:id="rId21"/>
    <p:sldId id="319" r:id="rId22"/>
    <p:sldId id="275" r:id="rId23"/>
    <p:sldId id="276" r:id="rId24"/>
    <p:sldId id="278" r:id="rId25"/>
    <p:sldId id="279" r:id="rId26"/>
    <p:sldId id="260" r:id="rId27"/>
    <p:sldId id="261" r:id="rId28"/>
    <p:sldId id="262" r:id="rId29"/>
    <p:sldId id="263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1896" userDrawn="1">
          <p15:clr>
            <a:srgbClr val="A4A3A4"/>
          </p15:clr>
        </p15:guide>
        <p15:guide id="2" pos="5760" userDrawn="1">
          <p15:clr>
            <a:srgbClr val="A4A3A4"/>
          </p15:clr>
        </p15:guide>
        <p15:guide id="4" pos="3840" userDrawn="1">
          <p15:clr>
            <a:srgbClr val="A4A3A4"/>
          </p15:clr>
        </p15:guide>
        <p15:guide id="5" orient="horz" pos="216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oll,Lillian L" initials="HL" lastIdx="3" clrIdx="0">
    <p:extLst>
      <p:ext uri="{19B8F6BF-5375-455C-9EA6-DF929625EA0E}">
        <p15:presenceInfo xmlns:p15="http://schemas.microsoft.com/office/powerpoint/2012/main" userId="S::lholl@uwsuper.edu::af36d691-747c-4d95-ac24-c7964abf1d4a" providerId="AD"/>
      </p:ext>
    </p:extLst>
  </p:cmAuthor>
  <p:cmAuthor id="2" name="Lillian Holl" initials="LH" lastIdx="1" clrIdx="1">
    <p:extLst>
      <p:ext uri="{19B8F6BF-5375-455C-9EA6-DF929625EA0E}">
        <p15:presenceInfo xmlns:p15="http://schemas.microsoft.com/office/powerpoint/2012/main" userId="cae41963e2a2395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BAB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88521" autoAdjust="0"/>
  </p:normalViewPr>
  <p:slideViewPr>
    <p:cSldViewPr snapToGrid="0">
      <p:cViewPr varScale="1">
        <p:scale>
          <a:sx n="61" d="100"/>
          <a:sy n="61" d="100"/>
        </p:scale>
        <p:origin x="1098" y="60"/>
      </p:cViewPr>
      <p:guideLst>
        <p:guide pos="1896"/>
        <p:guide pos="5760"/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11-12T18:46:14.513" idx="1">
    <p:pos x="10" y="10"/>
    <p:text>insert picture of herbarium sheet on right</p:text>
    <p:extLst>
      <p:ext uri="{C676402C-5697-4E1C-873F-D02D1690AC5C}">
        <p15:threadingInfo xmlns:p15="http://schemas.microsoft.com/office/powerpoint/2012/main" timeZoneBias="36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5-11-19T20:46:52.846" idx="1">
    <p:pos x="10" y="10"/>
    <p:text>townships showing up where there were not any specimens in county - get rid of?</p:text>
    <p:extLst>
      <p:ext uri="{C676402C-5697-4E1C-873F-D02D1690AC5C}">
        <p15:threadingInfo xmlns:p15="http://schemas.microsoft.com/office/powerpoint/2012/main" timeZoneBias="36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11-12T20:55:41.297" idx="2">
    <p:pos x="10" y="10"/>
    <p:text>need to add highlights under plant family names</p:text>
    <p:extLst>
      <p:ext uri="{C676402C-5697-4E1C-873F-D02D1690AC5C}">
        <p15:threadingInfo xmlns:p15="http://schemas.microsoft.com/office/powerpoint/2012/main" timeZoneBias="36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D77A39-C123-4533-9327-FFBF4507F59A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D18A0F-4DEC-4B83-B876-FA96AAE849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8051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Botanists study the plants in the world. But that’s like, </a:t>
            </a:r>
            <a:r>
              <a:rPr lang="en-US" dirty="0" err="1"/>
              <a:t>alot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D18A0F-4DEC-4B83-B876-FA96AAE8495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966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Collect a subset for study, deposit preserved plants, called specimens, into an herbarium</a:t>
            </a:r>
          </a:p>
          <a:p>
            <a:r>
              <a:rPr lang="en-US" dirty="0"/>
              <a:t>-record a bunch of data during collection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D18A0F-4DEC-4B83-B876-FA96AAE8495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2649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-library of pressed plants</a:t>
            </a:r>
          </a:p>
          <a:p>
            <a:r>
              <a:rPr lang="en-US" dirty="0"/>
              <a:t>-Donald W. Davidson Herbarium is located on second floor of Barstow, has 5 cabinets with two sides each</a:t>
            </a:r>
          </a:p>
          <a:p>
            <a:r>
              <a:rPr lang="en-US" dirty="0"/>
              <a:t>-organized first by family in evolutionary order, then by location (WI - yellow, MN - blue, Other - red)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D18A0F-4DEC-4B83-B876-FA96AAE8495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9602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Collection isn’t perfect because it is done by humans who have preferences and limitations, also because collected opportunistically with different purposes</a:t>
            </a:r>
          </a:p>
          <a:p>
            <a:r>
              <a:rPr lang="en-US" dirty="0"/>
              <a:t>-some of the known biases are…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D18A0F-4DEC-4B83-B876-FA96AAE8495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9145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-Live in an information age, so there is an additional layer called digitization, where herbarium labels are transcribed and sometimes a photo taken – gets put into a database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D18A0F-4DEC-4B83-B876-FA96AAE8495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5229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0F245-B8D6-CB8D-75FC-7E402CE4C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23DDCF-323B-58CF-87FD-C9F669AC18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1E6A7F-D593-7496-AFCE-922320F2E9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-In an ideal world, the physical herbarium would match the database – every herbarium specimen accounted for in database through digitization</a:t>
            </a:r>
          </a:p>
          <a:p>
            <a:r>
              <a:rPr lang="en-US" dirty="0"/>
              <a:t>-reality for SUWS is much different because collection has grown since last time database compiled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BE65BB-D2B8-4B2C-4554-265E567ACA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D18A0F-4DEC-4B83-B876-FA96AAE8495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889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-overarching question: What are the characteristics of the current public SUWS database on </a:t>
            </a:r>
            <a:r>
              <a:rPr lang="en-US" dirty="0" err="1"/>
              <a:t>WisFlora</a:t>
            </a:r>
            <a:r>
              <a:rPr lang="en-US" dirty="0"/>
              <a:t>?</a:t>
            </a:r>
          </a:p>
          <a:p>
            <a:r>
              <a:rPr lang="en-US" dirty="0"/>
              <a:t>-Three main breakdowns I looked at</a:t>
            </a:r>
          </a:p>
          <a:p>
            <a:r>
              <a:rPr lang="en-US" dirty="0"/>
              <a:t>--Basic stats</a:t>
            </a:r>
          </a:p>
          <a:p>
            <a:r>
              <a:rPr lang="en-US" dirty="0"/>
              <a:t>--Geography – this is a GIS credit after all</a:t>
            </a:r>
          </a:p>
          <a:p>
            <a:r>
              <a:rPr lang="en-US" dirty="0"/>
              <a:t>--Collectors</a:t>
            </a:r>
          </a:p>
          <a:p>
            <a:r>
              <a:rPr lang="en-US" dirty="0"/>
              <a:t>---fun new word – oeuvre, which means the collected works of someone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D18A0F-4DEC-4B83-B876-FA96AAE8495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84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Cleaning – rm columns with all NAs, same info, or info not relevant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--also rm 6 six records that had no county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--horror story – 31 records have a duplicate, only able to verify with physical specimen for 28</a:t>
            </a:r>
          </a:p>
          <a:p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-then ready to wrangle and represent in maps and graphs</a:t>
            </a:r>
          </a:p>
          <a:p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WisFlora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header - https://wisflora.herbarium.wisc.edu/content/imglib/layout/wiscflora_banner6.png</a:t>
            </a:r>
          </a:p>
          <a:p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Rstudio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logo - https://encrypted-tbn0.gstatic.com/images?q=tbn:ANd9GcSdAx5hTJjeIWJA7pmVzHinb2xC_GDI7OqCjw&amp;s</a:t>
            </a:r>
          </a:p>
          <a:p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ArcPro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logo -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data:image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/jpeg;base64,/9j/4AAQSkZJRgABAQAAAQABAAD/2wCEAAkGBxAQEBUQEBAVFRUWFRcWGBgXGBcZGBkVFxgXGBUVGBYZHSggGholGxUVITEhJikrLi4vGiAzODU4NygtLysBCgoKDg0OGxAQGyslICU2LTI1ListLS0xLy8rLS0tLy0uLS0tLy0vLS0tLS0tLy0tLS0tLS0tLS0tLS8tLS0tLf/AABEIANwA3AMBEQACEQEDEQH/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xAAcAAEAAgMBAQEAAAAAAAAAAAAABgcBAgUEAwj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/xABDEAABAwIBCAYGCQIFBQAAAAABAAIDBBEFBgcSITFRYYETIkFxkaEyNUJSg7MUIyVicoKSscEzokOywtHwRHOTo+H/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xAAaAQEAAwEBAQAAAAAAAAAAAAAABAUGAQMC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8QAMxEAAQMCAwYFBAEFAQEAAAAAAAECAwQRBSGxEjE0QVGBIjJhodETQnGR8BQjUsHh8ST/2gAMAwEAAhEDEQA/ALxQBAEAQBAEAQBAEAQBAczF8epqUfXSgH3Rred3VGvmdSkwUks3kb35Eeaqih869uZBcazjyuu2ljEY999nO7w30R5q6p8GY3OVb+ibvnQp58We7KJLeq7/AOfsg+I1ssxL5ZHPdvcSfDcrdkbI22YlkKx0j3uu5bnSwTLGtpbBsumwexJ1hyO1vIqHPQQTZqll6oSoa6aLct06KWBgmcWkms2cGB/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HWy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4hs5gd6pp8JlZmzxJ7/ot4cTifk/JfYmEMrXtDmODmnWCCCCN4I2qrc1WrZSxRUVLobrh0IAgCAIAgCAIAgCAIAgCAIAgCAIAgCAFAR3GMs6Onu0P6V/ux69fF2weZ4KfBhs8udrJ6/BBnxCGLK919CDYzlzVz3aw9Czcz0ub9vhZXdPhcMebvEvr8FPPiU0mTfCnp8kWkcSbk3J2kqySyZIVy55nzK6D5SbFw6h8Vw+ggOhhONVNK7SglczeNrT3tOorxmp45ks9LntFPJEt2LYnuCZzmmzayK3349Y5sOscie5U0+DrviXsvyWsOKpulTunwTrDcUgqW6cErXjgdY7xtHNVEsMkS2eli1jlZIl2Lc9i8j0CAIAgCAIAgCAIAgCAIAgCAID5VNQyNpfI9rGjaXEAeJX01jnrZqXU+XOa1LuWyEPxnOJTx3bTtMrveN2s89Z8B3q1gwiR2ci2T3K2bFI25RpfQguMZTVdVqllIb7jeq3mBt53VzBRQw+VM+q7/wCfgqJquWbzLl0TcckFSyKCUBqSunDUlAfOTYh1D4rh9BAEAQH1pqmSJwfG9zHDYWkg+IXy5jXpZyXQ+muc1btWxNcEzk1Edm1LBM33hZr/AC1HwHeqqfCI3ZxrZfYsocUkblIl9Sf4JlTR1dhFKA/3H9V/IH0uV1Sz0U0PmTLqm4toauKXyrn0XedpRSSEAQBAEAQBAEAQBAEB4MVxmnpW6U8rWbhtce5o1le0NPJMtmJc8pZ44ku9bEFxrOU43bSRW+/JrPJg1DmT3K4gwdN8q9k+SpmxVd0Sd1+CE4hic9Q7Tmlc88TqHcNg5K4ihjiSzEsVUkr5Fu9bnlBXoeZm6AzdAZuhw1K6DUoD5v2IdPmh0IAgCAIDCHDIKAk2CZc1tNZpf0rB7Mlzq4P2jzHBQJ8NglztZfT4J0OITR5XunqT/BM4FHUWbITA89j/AEb8H7PGypZ8Lmjzb4k9PgtocRikyXJfX5JYxwIBBBB1gjYQq5UtkpYItzK4AgCAIAgCA8mJ4jFTRGaZ4a0du89gA7TwXpFE+V2wxLqecsrY27TlyKvx/OHUTEtpvqWb9shHfsby8VoafCY2ZyeJfYop8TkfkzJPch8sznuLnuLnHWSSSSd5J2q1RqNSyFcqqq3U1uunDN1w4Zuh0zdAZugF0BglDhqSgNH7EOnzQ6EAQBdOBAEAQ4EAQHVwbKGqpD9RM4N9w62Hf1Tq5jWo89LFN5078z3hqZYvIvbkT7BM5kT7Nq4zGffZdzO8t9Icrqmnwd6ZxLf0Xf8AGhbQ4q1cpEt6p/PknFDXRTt04ZGvbvaQeR3FVEkb41s9LKWjJGvS7VuehfB9hAEAJQFI5b5Qurag6LvqYyWxjsO9/ef2stbQUqQR5+Zd/wAGYralZpMtybvkjt1OIYugM3QGboDK4BdAZugM3QG0UTnnRY0uO4Ak+AXyrkal1U6jVVbIdanyTxCT0aWQfiAZ/nIUZ1dTt3vTXQkNop3bmrpqesZA4kR/QA75I/4cvJcUpv8AL2U9Uw6o6e6HwmyFxJv/AE1xwfGfIOuvpMSpl+72X4OLh9Qn2+6HKrcGqoNctPIwbyx1v1WspDKiJ/lci9zwfBIzzNVDwL2PIIAgC6cCHAgCAIAgJPm3kIxKEAkA9JcX1G0TyL79agYmiLTO7aoTsOVf6hvfRS7FkzTBAEBxMtKsw0E7xt0NEfnIZf8AuUuhjR9Qxq9dMyNWP2IHL/M8iiFsDKBAZQ6ZugM3QC64dM3XAdjAcm6mtP1LOrexe7Uwc+08BdRqirigTxrn05kiClkm8qZdeRYeDZu6WKxnJmdu9Fg/KDc8zyVJPi0r8meFPcuIcMibm/NfYllJSRRN0Yo2sG5rQ0eSrXyOet3Kq/ksGsaxLNSx918H0EAQBAcXFclaKpv0kDQ73mdR3fdu3ndSoa2eLyu7LmRpaSGTzN/WRA8fzbTRAvpH9K33HWEgHA7HeXcrinxdjspUt68v+FVPhb25xrf05kFmicxxa9pa4GxBFiDuIKt2uRyXQrFRUWymq6fJhdOBAEAQBASXNz6zg+J8qRQMT4V3bVCbh3Et76KXcsmacIAgI1nG9WT/AA/mxqfhnFN76KQsR4Z3bVCkVrDMGUAQGUAQ6Fw6WLkdkBpBs9aCBtbFsJ3F+4fd279yo63FLeCH9/HyW9Jh1/HL+vksmKJrGhrGhrQLAAWAG4AKiVVVbqXSIiJZDE8zY2l73BrRrJcQAO8lGtVy2RLqHORqXUh+LZx6SIlsLXTEdo6rP1HX4BWcOEyvzf4fdSulxOJuTcyN1Oc2rcfq4omDiHOPjcDyU9uEQp5lVSG7FZV3IiHmjzkV7dZ6J3ew/wAOC+1wmnXr+z4TE506fo6lFnTdsmpQeLHEf2uBv4qO/Bk+x37PdmLL9zf0TXJ/KWmrgehedIC5Y4WeBvt2jiLqqqKSWBfGmXUsoKqObyr2OwoxICA4mUmTFPXN+sboyAdWRo6w3A+83gfJS6Wskp18O7oRqikjnTPf1KbyhwGehl6OYajra4ei4bwd+8di09NUsnbtM/XQzs9O+F2y45akkdQhwIAgCAkubn1nB8T5UigYnwru2qE3DuJb30Uu5ZM04QBARrON6sn+H82NT8M4pvfRSFiPDO7aoUitYZgIAgMoAgLQzd5HhgbWVLeubGJh9kdj3D3j2btu3ZnsSr9pVijXLmv+i9w+i2f7j9/JP9lhKlLc4GVWVUNAzrdeUjqxg6/xOPstUykon1C5ZJ1ItTVsgTPNehUOOY/UVr9KaQkeywamN7m/yda0sFNHAlmJ35mfmqJJlu5exy17ngEBgoDVATHNbRPfXiRupsTHF3HSBa1vib/lVbisiNg2V3r/AOlhhrFWbaTkXGsyaEIAgPFjGFxVcToZm3afFp7HNPYQvWGZ8L0exczzlibK3ZcUdlFgUtFOYZNY2tcNjm9hHHeOxa6lqWzs2m/roZeop3Qv2XHLspBHFkBhAEBJc3PrOD4nypFAxPhXdtUJuHcS3vopdyyZpwgCAjWcb1ZP8P5san4ZxTe+ikLEeGd21QpFawzAQBAEBMc3GTYqpunlbeKIjUdj37Q3iBtPLeqvE6v6LNhvmX2QssOpfqv23bk91LiWYNEEBU2dPBDFOKttyyXU6+vRkA2dxAuO4rRYVUbbPprvTQocSg2X/UTcupBlbFYEOhAYKAwgLHzR4lE3pad1myPIc0n2gBYtHEazbidypMXieuy9NyFvhcjUuxd6lmqiLkIAgCA4mVuAtrqcx6hI27o3bnbr+6dh5blLo6paeTa5cyLV06Tx258ijpoXMcWOBDmkgg7QRqIWua5HJdDLqiotlNLLpwxZdBghASPNyPtOD4nypFAxPhXdtUJmH8S3vopdyyZpwgCAjWcb1ZP8P5san4ZxTe+ikLEeGd21QpFawzAQBAfSCFz3tYwXc4hoG8k2A8Vxzkaiqu5DrWq5URC/8AwplJTsgZ7I1n3nnW53M38ljKidZpFevM1sEKRRoxDoLwPYICJZ0HsGHPDtpewM/FpXP9ocrHC0X+oS3r/P2QMRVPoLf0KYWmM8EAQBAZXDptG8tIc0kEG4I1EHeCi2XJQmW4uPN3lI+shdHMbyxWu73mm9nHjqseSzWI0qQvRzdymgoKlZWqjt6EuVcTwgCAICrc6WCiOZtUwdWXqv/wC4BqPNv+UrQ4TUbTFiXlu/H/ChxSDZekic9SC2VwVRiyAxZdBIs3Q+04PifKkUHE+Fd21Qm4fxDe+il2LJmmCAICNZxvVk/wAP5san4ZxTe+ikLEeGd21QpFawzAQBATDNfhvTVvSEdWFpf+Y9Vv7k/lVZis2xBsp92RY4ZFtzbS8i41lzRhAcXKXKWnoGXlN3n0Y2+k7jwHEqVTUkk62bu6keoqWQp4t/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Qp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KjKaavkDpLNY2+gwbBfaSe08Vo6WkZTts3f1KCoqXTrdd3Q4ilEcLgMoDIC5cEtwfN9W1DQ94bC07OkvpH8gFxzsq+bE4Y1smf4J8WHyvS65fk9r82FZfqzQEcS8eWgV5pi8XNF9vk+1wuXkqe/wS3IbJJ9Bpvkka57wBZt9EAa9psT4BV1dWpUWRqWRCfR0iwXVy5qSxV5OCAIAgOPldh30mjljt1g3Tb+JmseNrc1KopfpTNd2/ZGq4vqQub/MijrLXGWMWQGCEBIc3g+0oPifKeoWJcM7tqhMw/iG99FLqWUNMEAQEazjerJ/h/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NjU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DOKb30UhYjwzu2qFIrWGYCAIC2M0dJo0ssttb5LflYBbzc5ZzGZLytb0TUv8JZaNXdV0J2qctQgKezsstXtN/ShYe7rPFvLzWjwlbwL+V/0UGJp/e7fJC1ZleEAXDpkIC3shMjWUzG1FQ2851gHZGOz8+89mzvztdXLIqsZ5df+F7R0aRptv36E2VYWIQBAEAQBAEAQFDY3SdDUyxAamyOA7rnR8rLYwP24mu6ohkp2bEjm9FPCQvY8jBCAkOb0faUHxPlPULEuGd21QmYfxDe+ilzrKmmCAICNZxvVk/w/mxqfhnFN76KQsR4Z3bVCkVrDMBAEBdubiLRw2He7pHH/AMjgPIBZPE3XqXdtENPhyWp299STKATSMZVZaQUN4x9ZNb0AdTd2m7s7tqnUtA+fxbm9fghVNayHLevT5Khx3GJayYzTEaRAAAFg1o2NHDWfFaKCFsLNhpRTTOldtOOevU8wgC4dO5kTA2TEKdrxcad7cWguHmAotY5WwOVCRSNR0zUUvlZU0oQBAEAQHgx6HTpZmgkExvsRqsQCQb94C9YHbMrV9UPKdu1G5PQpSlxqqjN2VEo/O63ME2K1LqeJ29qfozTZ5W7nL+y18h8fdWwEy26SMhriNQcCLtdbsO3VwWfrqZIH+HcpfUVQszPFvQkagkwpzL2LRxCbjoHxY2/ndajDnXp299TNV6WqHdtCPEKcQzUhDhIc3w+0oPifKeoWI8M7tqhNw/iG99FLlWWNKEAQEazjerJ/h/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NjU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/DOKb30UhYjwzu2qFIrWGYCAIC8s3zgcNgtucPCR4P7LJYilql/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bRDUUC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nMkKgkw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POOUc0NRIyoB6TSJJPtXJOmD2g7brYwPY+NFZuMpMx7Hqj954F6HmEOhcOhAezB6009RFOP8N7XW3gHWOYuF5TR/UYrOp6RP2Ho7ofoOjqmTRtljcHMcLgjcsk9iscrXbzTtcjk2k3H2XyfQQBAEBw8ssXZS0ryT13tcxg7S4i1+4Xuf/qlUcCyypbcmakWrmSKNb713FKNC1Jmizs1MVoJn75A39Lb/AOpUWLO8bU9C7wtPA5fUnKqS0Kizgm+IScAwf2NP8rTYbw7e+pnMQ4he2hGyFPIJqQgO/kAPtGH4nynqHiPDO7aoTMP4hvfRS5FljShAEBGs43qyf4fzY1Pwzim99FIWI8M7tqhSK1hmAgCAuXNdUaeHhvuSPb4kP/1rL4s21RfqifH+jSYY68Fuir8kuVYWB4MXwanq2aFREHjsOxzfwuGsL2hnkiW7FseUsLJUs9CvsazXvF3UkwcPck1O5PGo8wFbw4si5SJ3Qq5cMVM41/ZBcSwyemfoTxOY7iNR4g7CO5WkcrJEuxblbJG+NbOSx5F9nyZQBcB66HE54P6M0kd9ug5zQe8A615viY/zIinoyR7PKqodOlywxCM3FU88HWcPBwK8XUUDvtQ9W1czfuUt7JLFn1lJHO9oa43BtsJaS244Gyz1VCkMqsQvaaVZY0cp2FHPc+NXUNijfK/0WNLj3NFz+y+mNVzkanM+XORrVcvIo7HcYlrJjNIeDW9jW9jR/v2rVQQNhZstMzPM6V+048LQvY8S5MgqPoqCO+195D+Y9X+0NWaxB+3OvpkaKgZswJ65khUImFM5XTaddO775b+gBv8ApWqom7MDU9NczMVjtqdy+umRxyFKIxqQhw72QI+0YfifKeoeI8M7tqhMw/iG99FLiWXNKEAQEazjerJ/h/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NjU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DOKb30UhYjwzu2qFIrWGYCAICxs0FfZ01OTtDZG8uq792eCo8aiybJ2/nuXOEyZuZ3LNVAXYQBAeDG8Jiq4XQzNBBGo9rXdjmnsK9YZnQv2mnlLE2Vuy4/P1TCY3uYdZa4tNt4Nv4Wta7aRFMw5NlVQ+a6cMoAgMoD9DYNRCCnihA9BjWnvA6x5m5WQmftyK7qamJmwxG9D2LzPQjmX2INhoZAfSkHRtG/S9I8m3PgplBGr5k9MyJXSIyFfXIptoWmM6e/B6B1RPHC3a9wHcNrjyFyvKaRI2K9eR9xRrI9GpzL1hjDGhjRYNAAG4AWAWTVVVbqalEREshpV1AijfI7Yxpce4C66xqvcjU5nHuRrVcvIo6Z5e4udtcST3k3K17UREshk3LdbqfIhfR8mpCA72QQ+0YfifKeoeI8M7tqhMoOIb30UuBZg0gQBARrON6sn+H82NT8M4pvfRSFiPDO7aoUitYZgIAgOrkvin0Srin9kOs78DtTvI35KPVw/Whcz+XJFLN9KVHl+tcCLg3BWMNYZQBAcXK7GhRUj5vbPUYN73bPAAnkpNJB9aVG8uf4I9VN9KNXc+RQ7nEkkm5OsniVq7WM1vMIAuAygNmGxBtdcU6fo9rgQCNh1rGrkaw+dVUMiY6SRwa1ouSdgC+mtVy7Ld58ucjUuu4pbKzH3V05frEbbiNu5u8/eO08h2LTUlMkDLc+ZnaqoWZ9+XI5DQpJGLMza4FoMNXIOs8WjB7Gdruf7DiqPEqjaX6TeW/8lzh1Psp9Ree4nKqi0IpnDxHo6cQg9aU6/wADbE+eiPFWOGxbUm2u5NSuxKXZj2E3roVmQtAUJoQug1IXTh3cg/WMPxPlPUPEOGd21QmUHEN76KW+swaQIAgI1nG9WT/D+bGp+GcU3vopCxHhndtUKRWsMwEAQBAW/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myx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wCkU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0d7vrIQAL7XR7Gnls8N6zOK0v05PqN3O1/6aLDan6kewu9NCaKqLIICqs7mIF08dODqYzTP4nnt7g0fqKv8JisxX9f9FJicl3ozoQFWpWGUOhcBlAZC4C38m8tKT6JH08wZIxga4EOudEWDhYa7gXWeqKGX6q7CXRS9grY/pptLZUIZllla+td0cd2wNOoHa8+87+ArKjo0hS7s3aFfV1azLZPKRtoU4hEsyKyWdVvEsgIgadfZpkeyOG8/wDBAraxIU2W+bQnUdIsq7TvLqW21oAAAsBqAGwDcs6q3L9EsYkkDQXONgASSdgA2ldRFVbIcVURLqVDlHihqqh0vs+iwbmDZ46zzWmpoUhjRvPn+TM1MyzSK7lyOUQpJ4GhC6cNCug7uQfrCH4ny3qHiHDu7aoS6DiG99FLeWZNIEAQEazjerJ/h/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NjU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DOKb30UhYjwzu2qFIrWGYCAIAgPZhGJSUszJ4jZzTyI7WngQvKaFsrFY7cp6RSuiej28i9sBxiKsgbNEdR1Ob2td2tP/Ne1Y+ogdC9WONVBM2ZiOadFeJ7EYyvyOirhptPRzAan9jrbGvHaOO0eSnUlc6DJc29Pgh1VG2bNMl/m8qPGMFqKR+hPGW7jta7i12wrQwzxzJdilFLC+JbOQ8C9TzMrgMoDK4DYIDdjSTYC5XDpOslcg5JSJasFke0M2Pd3+6PPu2qrqsRa3wx5r15FjTUDneKTJOhZkELY2hjGhrWiwA1AAdgVG5yuW6l01qNSyH0XDpBMuMoA69LC7UD9Y4dp9wd3b4b1cUFLb+67t8lPX1V/wC23v8ABCiFbFSaFdBoV04fMr6B3chPWEPxPlvUPEOGd21Ql0HEN76KW6syaQIAgI1nG9WT/D+bGp+GcU3vopCxHhndtUKRWsMwEAQBAEB2MmcoZaCXpI9bTYPYTqcB+xGuxUOrpWTts7svQl0tS6F107oXVgeNQVkQlhdce00+k0+64dn8rLTwPhdsvQ0kMzJW7TTorxPU+NXSxysLJWNe07Q4AjwK+mPcxbtWyny5rXJZyXIbi2bWlku6B7oTu9NngTceKsosVkbk9L+xXy4bG7Ni29yMVebeuZ6BjkH3XWPg4D91OZikK77oQ3YdMm6ynPdkTiINvop5OjPmHL1/r6f/AC1PL+in/wAdD7U+QeIu2wBo3uez9gSfJfLsQp0+72U+m0E68vdDu4dmxkNjUVDWjdGC4/qda3gVFkxVv2N/ZJjwx33u/RM8FyYpKTXFEC733dZ3InZysq2arll8y5dCwipYovKmfU7KjEgICEZW5YBt4KV13bHSDY3e1u88ezv2WtHQqvjk3dCrq663gj39SDtGpXBTGCunDQroNCunDQr6B3cg2k4hFw6Q/wDreP5UPEOHd21Ql0HEN76KW4syaQIAgI1nG9WT/D+bGp+GcU3vopCxHhndtUKRWsMwEAQBAEARQinrwnFJqWQSwPLXDwI3OGwhR5oWSt2XpckRSujdtMUtTJvOFT1FmVFoZNlyfq3Hg4+j3HxWfqcMkjzZmnuXdPiDH5PyX2Jm0gi4NwVWFiZQBAEAQBAEB4MWxiClbpTSBu4bXHuaNZXrFBJKtmIeUszIku5SucpMtZam8cIMUR1HX13DiRsHAeKu6agbF4nZr7FNU17pPC3JCPQM7Sp5APtdcOGCV0GhK6DQocNCvoE5zZYYdJ9U4agOjbxJsXHlYDmVUYrNkkafktsLhzWRfwWCqQuQgCA5+P4UKymfTucWh+j1gLkaLg4au9oXvTzLDIkiJe3/AIeM8KTRqxV3lTY3kHW013Nb0zB2x63c2bfC60kGJwS5Kuyvr8lBNh00eaJdPT4IsRbUVYEAwgCAIAgC4qXOooXwp9nWwfKKrpP6Ezg33T1mfpOoclGmpYpfOhIiqZIvKpMcOzoOGqopwfvRut/a6/7qtkwhPsd+ywjxRfvb+jv02cTD3+k6Rn4mE/5LqG7DJ03WXv8AJJbiMK77p2Pa3LXDiL/SRzbIPItXmtBUJ9uh6/1sH+Wp85cusOb/AI+lwDJP3LbLqYdUL9vuh8rXwJ93spy6zOVTN/pQyPPGzB46z5L3ZhUi+ZUT3PF+Jxp5UVfYjeJ5f1k2qPRhb90Xd+o/wAp0WGwszdn+SFJiErt2RGpZnPcXPcXOO0uJJPeSpyNRqWQhK5VW6n0hZfWUPk9N1wGboDBK6DUlDhqSug62TuT0tY/qgtjB6zzsHAb3cFGqapkDc9/Qk01K+Zct3Utuho2QRtijFmtFgP5PE7VmpJHSOVzt6mjjY1jUa3ch918H2EAQBAEByMayapKsfXRDS99vVf8AqG3ncKTBWTQ+RcunIjzUsU3mTPrzIBjebSeO7qV4lb7rrNf4+i7y7ldQYwx2UiW9eRUzYU9uca31ITV0kkLiyWNzHDscCD59itmSNel2rdCrexzFs5LKfBfR8hAEBtZcVD6RQvM+jIXDpkLh02CAyFwGwQG4XAfWJl0B6gVw4ZuuAzdAYuug6+E5N1VTYsj0Wn239VveO08gVGmrIot659EJMNJLLuTLqpM8IyEp47OnJldu2M8Np5nkqmbE5H5MyT3LWHDY25vzX2JVFE1jQ1rQ1o1AAWAHABVyqqrdSwRERLIbrh0IAgCAIAgCAIDy4hh8NQ3QmibI3c4XtxB2g8QvSOV8a3Ytj4kjZIlnpcg2N5so3XdSS6B9yS5byeNY53VvBjDkylS/qnwVU2FNXONbeikBxfAaqkNp4XNHY7a09zhqVzDUxTJ4HX1KmWnki86HNXueJs1DpkhfKodRQF8H2bBcBkLgNggNguA3Y26A9LUOGwK4dN42lxAaCSdgGsnkuKqIl1CIq5ISbCMiKqazpLQt+9rdyZ/vZV82IxMybmvt+yfDh0r83ZJ/ORNcJyTpKexDOkePafr18BsHhdVU1dNLleyehaw0UUedrr6ndUMlhAEAQBAEAQBAEAQBAEAQGskYcC1wBB2gi4PeF1FVFuhxURUspEcbzeUc93RXgf8Ad1svxYdnIhWUGKzR5O8Seu/9/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JXzYbE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NvhX03fogGN5FVtLdxj6Rg9uO7tXFu0eFuKuoMRgmyvZeilTNQTRZ2unVCPAqaQzJC+VQ+kUBfJ02C4dNggNmhcB926kOHroaKWd2hDG553NF7cSewcSvOSRkaXetj7jjfItmpcmeD5vXus6qk0R7jLF3N2wcrqrmxVqZRpf1Us4cLVc5Ft6ITXDMGp6YWhia09rtrj3uOtVMtRJKvjUtIoI4vIh714nsEAQBAEAQBAEAQBAEAQBAEAQBAEAQHDxvJOjq7mSINefbZ1XX3nsdzBUyCumhyauXRSLNRxS70z6oQHGs3VTDd1O4TN3ei/9J1Hkb8FcQYtE/J/hX2KmbDJGZszT3IfPA+Nxa9pa4bQ4EEd4KskVHJdq3Qr1RWrZUNAgNglgdrBcnaqq/oxHR993VZ+o7e4XUeaqih8y59OZ7xU0svlTvyJ3g2byFlnVLzI73W3azx2u8lTz4q92UaW1LWHDGNzkW+hMKWljiaGRsaxo7GgAeSq3vc9buW6lkxjWJZqWPsvk+ggCAIAgCAIAgCAIAgCAIAgCAIAgCAIAgCAIDxYnhNPUt0Z4mvHZcax3OGscivWKeSJbsWx5SwslSz0uVBltgkVHUdHCXaJF+sQbbNQ1DetLQ1D549pxn6yBsL7NJ3knkhRtiZO6PpHuF/rDpAdzbW8QVUVddMr1Yi2T0LSlookaj1S6+pMALagqwsTKAIAgCAIAgCAIAgCAIAgP/9k=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D18A0F-4DEC-4B83-B876-FA96AAE8495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8137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-add big shot of all cabinets here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D18A0F-4DEC-4B83-B876-FA96AAE8495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3410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Douglas, T47R14, </a:t>
            </a:r>
            <a:r>
              <a:rPr lang="en-US" dirty="0" err="1"/>
              <a:t>sp</a:t>
            </a:r>
            <a:r>
              <a:rPr lang="en-US" dirty="0"/>
              <a:t> 194, </a:t>
            </a:r>
            <a:r>
              <a:rPr lang="en-US" dirty="0" err="1"/>
              <a:t>coll</a:t>
            </a:r>
            <a:r>
              <a:rPr lang="en-US" dirty="0"/>
              <a:t> 32</a:t>
            </a:r>
          </a:p>
          <a:p>
            <a:r>
              <a:rPr lang="en-US" dirty="0"/>
              <a:t>Bayfield</a:t>
            </a:r>
          </a:p>
          <a:p>
            <a:r>
              <a:rPr lang="en-US" dirty="0"/>
              <a:t>-T49R8, </a:t>
            </a:r>
            <a:r>
              <a:rPr lang="en-US" dirty="0" err="1"/>
              <a:t>sp</a:t>
            </a:r>
            <a:r>
              <a:rPr lang="en-US" dirty="0"/>
              <a:t> 708, </a:t>
            </a:r>
            <a:r>
              <a:rPr lang="en-US" dirty="0" err="1"/>
              <a:t>coll</a:t>
            </a:r>
            <a:r>
              <a:rPr lang="en-US" dirty="0"/>
              <a:t> 102</a:t>
            </a:r>
          </a:p>
          <a:p>
            <a:r>
              <a:rPr lang="en-US" dirty="0"/>
              <a:t>-T45R8, </a:t>
            </a:r>
            <a:r>
              <a:rPr lang="en-US" dirty="0" err="1"/>
              <a:t>sp</a:t>
            </a:r>
            <a:r>
              <a:rPr lang="en-US" dirty="0"/>
              <a:t> 344, </a:t>
            </a:r>
            <a:r>
              <a:rPr lang="en-US" dirty="0" err="1"/>
              <a:t>coll</a:t>
            </a:r>
            <a:r>
              <a:rPr lang="en-US" dirty="0"/>
              <a:t> 34</a:t>
            </a:r>
          </a:p>
          <a:p>
            <a:r>
              <a:rPr lang="en-US" dirty="0"/>
              <a:t>Polk, T33R16, </a:t>
            </a:r>
            <a:r>
              <a:rPr lang="en-US" dirty="0" err="1"/>
              <a:t>sp</a:t>
            </a:r>
            <a:r>
              <a:rPr lang="en-US" dirty="0"/>
              <a:t> 222, coll2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D18A0F-4DEC-4B83-B876-FA96AAE8495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9190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Collectors show up 6,485 times in those 5,250 collections.</a:t>
            </a:r>
          </a:p>
          <a:p>
            <a:pPr rtl="0"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Collectors with more than 125 represent only a fraction of the database - 3,195/6485 is ~49%. Which means 51% of the time collectors tend to have a lower frequency of collection.</a:t>
            </a:r>
          </a:p>
          <a:p>
            <a:pPr rtl="0"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49% of the collection is by 6 people. 51% is by 287 people.</a:t>
            </a:r>
          </a:p>
          <a:p>
            <a:pPr rtl="0" fontAlgn="base"/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 line is 125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D18A0F-4DEC-4B83-B876-FA96AAE8495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9562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5609A-3BF0-9C36-C1B6-934803A7B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1C2385-6BCB-E3AB-474C-8F293BFAAB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08FA9D-4B16-AEAD-6F33-07BF223ABD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741E89-9161-60E8-EC03-2D5FEB18B5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D18A0F-4DEC-4B83-B876-FA96AAE8495E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3600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BD88E-ED87-E493-86DD-32C0F2344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8F7A41-705D-FEB1-8213-C0E43FB559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009CF1-B4D1-84FB-30C6-5C147658B9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541F38-0026-3825-C770-D26C8DE352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D18A0F-4DEC-4B83-B876-FA96AAE8495E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8718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Brashier collecting with everyone else </a:t>
            </a:r>
            <a:r>
              <a:rPr lang="en-US" dirty="0" err="1"/>
              <a:t>alot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D18A0F-4DEC-4B83-B876-FA96AAE8495E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3143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EF98F-7CB4-00C7-2C23-E328BB27E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5F083C-C221-E7E6-FBE0-AAFE059BF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C821AA-27AE-DFB8-2146-BDA6814B9C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D0B74B-B0BA-4354-38D8-9525A705D6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D18A0F-4DEC-4B83-B876-FA96AAE8495E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1033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if you’re looking for something to read over Christmas break…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D18A0F-4DEC-4B83-B876-FA96AAE8495E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7783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A09FF-9B4B-63B8-A49F-ADC9394591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4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454B7D-EC71-618C-BDD2-7236B848CA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32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730A85-340A-1665-88FD-4E2053C50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00A4A-F12B-4E78-8A0B-D9CE010CAA78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18B7AC-34FA-EE88-71BA-4CA93F349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A16C31-CDFC-A02E-67F4-61A921170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B8203-B642-4966-B118-DD3EFD4212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166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94D11-12C2-BEB5-5F06-475B012E3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16DFD5-7F93-38C0-7E55-151664A7D7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 b="1"/>
            </a:lvl1pPr>
            <a:lvl2pPr>
              <a:defRPr sz="3200" b="1"/>
            </a:lvl2pPr>
            <a:lvl3pPr>
              <a:defRPr sz="3200" b="1"/>
            </a:lvl3pPr>
            <a:lvl4pPr>
              <a:defRPr sz="3200" b="1"/>
            </a:lvl4pPr>
            <a:lvl5pPr>
              <a:defRPr sz="3200" b="1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BFE07A-2F9E-3939-9B80-DF4996D94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00A4A-F12B-4E78-8A0B-D9CE010CAA78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5F0038-990A-1F48-BCB9-BA964A895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5FB48D-F1C9-2018-170E-7A7284851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B8203-B642-4966-B118-DD3EFD4212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850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27BD3-EB1F-6F53-1574-BA89511F7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B3F7F6-D9F4-3FC4-238F-8B3077CE53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AC833-B46C-8D13-C960-34B2AED70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00A4A-F12B-4E78-8A0B-D9CE010CAA78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006A2B-10AC-68ED-A1B9-6A36E5E30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618B7B-612F-5330-0827-7D44F1E57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B8203-B642-4966-B118-DD3EFD4212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843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D4755-70AE-BB03-6166-C8FD122C0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96E95-0594-DB23-C3E3-4997F90013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sz="3200" b="1"/>
            </a:lvl1pPr>
            <a:lvl2pPr>
              <a:defRPr sz="3200" b="1"/>
            </a:lvl2pPr>
            <a:lvl3pPr>
              <a:defRPr sz="3200" b="1"/>
            </a:lvl3pPr>
            <a:lvl4pPr>
              <a:defRPr sz="3200" b="1"/>
            </a:lvl4pPr>
            <a:lvl5pPr>
              <a:defRPr sz="3200" b="1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36E447-9601-3C22-F4E7-F57EEF792A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sz="3200" b="1"/>
            </a:lvl1pPr>
            <a:lvl2pPr>
              <a:defRPr sz="3200" b="1"/>
            </a:lvl2pPr>
            <a:lvl3pPr>
              <a:defRPr sz="3200" b="1"/>
            </a:lvl3pPr>
            <a:lvl4pPr>
              <a:defRPr sz="3200" b="1"/>
            </a:lvl4pPr>
            <a:lvl5pPr>
              <a:defRPr sz="3200" b="1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D1C078-F195-21D2-899B-F8AA33980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00A4A-F12B-4E78-8A0B-D9CE010CAA78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C88CB3-C10C-17F4-B9AA-7B5087810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360442-8E4C-713E-4748-5C87BFA1B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B8203-B642-4966-B118-DD3EFD4212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596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1B704-11C2-635C-E9F5-0FB9F26B4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5761AA-A392-81BD-E30F-36A0C37AB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02767C-A0B3-3CAF-E053-658F11D647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6612" y="2505075"/>
            <a:ext cx="5157787" cy="3684588"/>
          </a:xfrm>
        </p:spPr>
        <p:txBody>
          <a:bodyPr/>
          <a:lstStyle>
            <a:lvl1pPr>
              <a:defRPr sz="3200" b="1"/>
            </a:lvl1pPr>
            <a:lvl2pPr>
              <a:defRPr sz="3200" b="1"/>
            </a:lvl2pPr>
            <a:lvl3pPr>
              <a:defRPr sz="3200" b="1"/>
            </a:lvl3pPr>
            <a:lvl4pPr>
              <a:defRPr sz="3200" b="1"/>
            </a:lvl4pPr>
            <a:lvl5pPr>
              <a:defRPr sz="3200" b="1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E38A54-5116-97FF-D010-99CF7DB84F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992170-69F6-AB57-8707-3CB1EBE800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 sz="3200" b="1"/>
            </a:lvl1pPr>
            <a:lvl2pPr>
              <a:defRPr sz="3200" b="1"/>
            </a:lvl2pPr>
            <a:lvl3pPr>
              <a:defRPr sz="3200" b="1"/>
            </a:lvl3pPr>
            <a:lvl4pPr>
              <a:defRPr sz="3200" b="1"/>
            </a:lvl4pPr>
            <a:lvl5pPr>
              <a:defRPr sz="3200" b="1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C31D6A-3A85-6632-B7DC-13AEF98C8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00A4A-F12B-4E78-8A0B-D9CE010CAA78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126354-5334-3AFF-204F-A06AFF4E2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FD8C6E-5AFB-71A7-EE50-29209AF6A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B8203-B642-4966-B118-DD3EFD4212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324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80835-E023-2DE1-2E4B-9AF33F3BB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1E8CF9-CE3F-2AEA-5A01-DD3C04175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00A4A-F12B-4E78-8A0B-D9CE010CAA78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58EBF8-2E10-B266-8398-3C878C98B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8DFFDC-AE83-E65B-84C9-0131D49AE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B8203-B642-4966-B118-DD3EFD4212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795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A36BF5-A2BB-6B9E-A0BA-EAA2AA2CD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00A4A-F12B-4E78-8A0B-D9CE010CAA78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52F272-9437-6B7D-5395-C69C33D9E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4E2395-331B-6E5C-163C-D0FB78393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B8203-B642-4966-B118-DD3EFD4212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189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7988D-10AB-E462-9728-894B3FA67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44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DF9340-915A-0EE2-E9C3-A85D331181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 b="1"/>
            </a:lvl1pPr>
            <a:lvl2pPr>
              <a:defRPr sz="3200" b="1"/>
            </a:lvl2pPr>
            <a:lvl3pPr>
              <a:defRPr sz="3200" b="1"/>
            </a:lvl3pPr>
            <a:lvl4pPr>
              <a:defRPr sz="3200" b="1"/>
            </a:lvl4pPr>
            <a:lvl5pPr>
              <a:defRPr sz="3200" b="1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9668D2-577C-1493-7E53-A92449E4D0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32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AA5168-AE79-5D57-D9ED-263762CC8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00A4A-F12B-4E78-8A0B-D9CE010CAA78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C1840B-E634-8FAA-1C2C-9039F8394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E412EE-443D-4D88-1155-4524647BD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B8203-B642-4966-B118-DD3EFD4212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923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458C8-EB87-660E-775A-787CF0045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44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F3629E-CE45-E169-D296-0412922E28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F66908-3A72-9F19-F564-FDFDBC4092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32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276B38-C765-EE3E-157C-4004EB1DA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00A4A-F12B-4E78-8A0B-D9CE010CAA78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2F7D69-4DC0-D27A-2ED9-A3EE98CB9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1786FB-EBA9-4202-085F-BD3182D7E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B8203-B642-4966-B118-DD3EFD4212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828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B6042-E606-C377-8581-8873A33E5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78DABD-93C5-3D16-34AF-A12E3D2ACE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 sz="3200" b="1"/>
            </a:lvl1pPr>
            <a:lvl2pPr>
              <a:defRPr sz="3200" b="1"/>
            </a:lvl2pPr>
            <a:lvl3pPr>
              <a:defRPr sz="3200" b="1"/>
            </a:lvl3pPr>
            <a:lvl4pPr>
              <a:defRPr sz="3200" b="1"/>
            </a:lvl4pPr>
            <a:lvl5pPr>
              <a:defRPr sz="3200" b="1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2AC323-5A17-D333-ACBF-3DD56337D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00A4A-F12B-4E78-8A0B-D9CE010CAA78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A3BB76-866F-51EB-F3F7-1408D60A2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080721-9435-1DEC-2079-4ECA6742F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B8203-B642-4966-B118-DD3EFD4212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227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B4FAD8-7609-5845-68B2-2FACB8BD29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7216A6-A269-0AC0-7346-1E230D7ECE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defRPr sz="3200" b="1"/>
            </a:lvl1pPr>
            <a:lvl2pPr>
              <a:defRPr sz="3200" b="1"/>
            </a:lvl2pPr>
            <a:lvl3pPr>
              <a:defRPr sz="3200" b="1"/>
            </a:lvl3pPr>
            <a:lvl4pPr>
              <a:defRPr sz="3200" b="1"/>
            </a:lvl4pPr>
            <a:lvl5pPr>
              <a:defRPr sz="3200" b="1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AA935E-7901-F15B-CEB9-748B893E7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00A4A-F12B-4E78-8A0B-D9CE010CAA78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AA05FB-8181-A642-7A9A-81239EA8E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79DEA4-2BEE-A4E1-A194-B1EF348DB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B8203-B642-4966-B118-DD3EFD4212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503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BA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B5587A-C544-CF02-99CF-C17ED4602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1F27F2-1B4F-8CF5-C034-3ACA6B71DE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7FE79F-507B-9A64-973D-E8A9427B56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ahoma" panose="020B0604030504040204" pitchFamily="34" charset="0"/>
              </a:defRPr>
            </a:lvl1pPr>
          </a:lstStyle>
          <a:p>
            <a:fld id="{62E00A4A-F12B-4E78-8A0B-D9CE010CAA78}" type="datetimeFigureOut">
              <a:rPr lang="en-US" smtClean="0"/>
              <a:pPr/>
              <a:t>11/18/2025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4AA1F7-E758-959D-0587-DE80ABAC81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ahoma" panose="020B060403050404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5157F1-84CF-453A-1C93-6704B5DCAE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ahoma" panose="020B0604030504040204" pitchFamily="34" charset="0"/>
              </a:defRPr>
            </a:lvl1pPr>
          </a:lstStyle>
          <a:p>
            <a:fld id="{099B8203-B642-4966-B118-DD3EFD42124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78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Tahoma" panose="020B060403050404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b="1" kern="1200">
          <a:solidFill>
            <a:schemeClr val="tx1"/>
          </a:solidFill>
          <a:latin typeface="Tahoma" panose="020B060403050404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b="1" kern="1200">
          <a:solidFill>
            <a:schemeClr val="tx1"/>
          </a:solidFill>
          <a:latin typeface="Tahoma" panose="020B060403050404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b="1" kern="1200">
          <a:solidFill>
            <a:schemeClr val="tx1"/>
          </a:solidFill>
          <a:latin typeface="Tahoma" panose="020B060403050404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b="1" kern="1200">
          <a:solidFill>
            <a:schemeClr val="tx1"/>
          </a:solidFill>
          <a:latin typeface="Tahoma" panose="020B060403050404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b="1" kern="1200">
          <a:solidFill>
            <a:schemeClr val="tx1"/>
          </a:solidFill>
          <a:latin typeface="Tahoma" panose="020B060403050404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5" Type="http://schemas.openxmlformats.org/officeDocument/2006/relationships/comments" Target="../comments/comment2.xml"/><Relationship Id="rId4" Type="http://schemas.openxmlformats.org/officeDocument/2006/relationships/image" Target="../media/image9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3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6E7C0-2D54-C2EB-CDF7-9467509A68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025" y="1612899"/>
            <a:ext cx="1102995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The Applications of GIS in Understanding Collection Characteristics of the Donald W. Davidson Herbarium (SUWS)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2599E3-151B-D907-BD52-D22BE14D30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02176"/>
            <a:ext cx="9144000" cy="1655762"/>
          </a:xfrm>
        </p:spPr>
        <p:txBody>
          <a:bodyPr/>
          <a:lstStyle/>
          <a:p>
            <a:r>
              <a:rPr lang="en-US" dirty="0"/>
              <a:t>Lillian Holl</a:t>
            </a:r>
          </a:p>
          <a:p>
            <a:r>
              <a:rPr lang="en-US" dirty="0"/>
              <a:t>Advisor: Dr. Lee</a:t>
            </a:r>
          </a:p>
        </p:txBody>
      </p:sp>
    </p:spTree>
    <p:extLst>
      <p:ext uri="{BB962C8B-B14F-4D97-AF65-F5344CB8AC3E}">
        <p14:creationId xmlns:p14="http://schemas.microsoft.com/office/powerpoint/2010/main" val="801757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8D0A6-E62F-DAD9-B627-B57755765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7CC37831-A08C-D767-8DFB-4A5E99556C7A}"/>
              </a:ext>
            </a:extLst>
          </p:cNvPr>
          <p:cNvGrpSpPr/>
          <p:nvPr/>
        </p:nvGrpSpPr>
        <p:grpSpPr>
          <a:xfrm>
            <a:off x="2476499" y="4913106"/>
            <a:ext cx="7239002" cy="1618938"/>
            <a:chOff x="435964" y="3608961"/>
            <a:chExt cx="7239002" cy="1618938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67AE9B5B-1BC4-A4D5-B23E-20C7CBF9C291}"/>
                </a:ext>
              </a:extLst>
            </p:cNvPr>
            <p:cNvSpPr/>
            <p:nvPr/>
          </p:nvSpPr>
          <p:spPr>
            <a:xfrm>
              <a:off x="435964" y="3608961"/>
              <a:ext cx="7239002" cy="1618938"/>
            </a:xfrm>
            <a:prstGeom prst="roundRect">
              <a:avLst/>
            </a:prstGeom>
            <a:noFill/>
            <a:ln w="5715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4BCF50E-23C2-2AD0-EEA5-B4D292D97E08}"/>
                </a:ext>
              </a:extLst>
            </p:cNvPr>
            <p:cNvSpPr txBox="1"/>
            <p:nvPr/>
          </p:nvSpPr>
          <p:spPr>
            <a:xfrm>
              <a:off x="1821930" y="4126042"/>
              <a:ext cx="446706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Plants in World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31308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5ACF3-0FF2-929B-AB5A-6A9E15168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672EFF4-A394-55B8-1A73-2D53F14C8141}"/>
              </a:ext>
            </a:extLst>
          </p:cNvPr>
          <p:cNvGrpSpPr/>
          <p:nvPr/>
        </p:nvGrpSpPr>
        <p:grpSpPr>
          <a:xfrm>
            <a:off x="2476499" y="4913106"/>
            <a:ext cx="7239002" cy="1618938"/>
            <a:chOff x="435964" y="3608961"/>
            <a:chExt cx="7239002" cy="1618938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E765BF6D-59F1-E482-B01A-17D4A031CFBD}"/>
                </a:ext>
              </a:extLst>
            </p:cNvPr>
            <p:cNvSpPr/>
            <p:nvPr/>
          </p:nvSpPr>
          <p:spPr>
            <a:xfrm>
              <a:off x="435964" y="3608961"/>
              <a:ext cx="7239002" cy="1618938"/>
            </a:xfrm>
            <a:prstGeom prst="roundRect">
              <a:avLst/>
            </a:prstGeom>
            <a:noFill/>
            <a:ln w="5715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3E5AA1D-F334-0102-6B45-DCA65EB590BC}"/>
                </a:ext>
              </a:extLst>
            </p:cNvPr>
            <p:cNvSpPr txBox="1"/>
            <p:nvPr/>
          </p:nvSpPr>
          <p:spPr>
            <a:xfrm>
              <a:off x="1821930" y="4126042"/>
              <a:ext cx="446706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Plants in World</a:t>
              </a:r>
            </a:p>
          </p:txBody>
        </p:sp>
      </p:grp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1324E52-9920-DF5C-7DEE-F05CAFA6BB30}"/>
              </a:ext>
            </a:extLst>
          </p:cNvPr>
          <p:cNvSpPr/>
          <p:nvPr/>
        </p:nvSpPr>
        <p:spPr>
          <a:xfrm>
            <a:off x="3638239" y="2473417"/>
            <a:ext cx="4915525" cy="877003"/>
          </a:xfrm>
          <a:prstGeom prst="round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D32DC29-00FB-C835-DBA3-06A1A7378DF9}"/>
              </a:ext>
            </a:extLst>
          </p:cNvPr>
          <p:cNvSpPr txBox="1"/>
          <p:nvPr/>
        </p:nvSpPr>
        <p:spPr>
          <a:xfrm>
            <a:off x="4995473" y="2619530"/>
            <a:ext cx="22010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Herbarium</a:t>
            </a:r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7F9EB074-5114-3D98-5B90-532DD28135D2}"/>
              </a:ext>
            </a:extLst>
          </p:cNvPr>
          <p:cNvSpPr/>
          <p:nvPr/>
        </p:nvSpPr>
        <p:spPr>
          <a:xfrm>
            <a:off x="3862465" y="3541546"/>
            <a:ext cx="4467069" cy="1113020"/>
          </a:xfrm>
          <a:prstGeom prst="triangle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53AA6A-8A0D-8AEB-E376-B8D35340FDCC}"/>
              </a:ext>
            </a:extLst>
          </p:cNvPr>
          <p:cNvSpPr txBox="1"/>
          <p:nvPr/>
        </p:nvSpPr>
        <p:spPr>
          <a:xfrm>
            <a:off x="4995471" y="4035945"/>
            <a:ext cx="22010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Collection</a:t>
            </a:r>
          </a:p>
        </p:txBody>
      </p:sp>
    </p:spTree>
    <p:extLst>
      <p:ext uri="{BB962C8B-B14F-4D97-AF65-F5344CB8AC3E}">
        <p14:creationId xmlns:p14="http://schemas.microsoft.com/office/powerpoint/2010/main" val="3499619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98020-7788-8A73-A957-281A4CD0E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What is an herbarium?</a:t>
            </a:r>
          </a:p>
        </p:txBody>
      </p:sp>
      <p:pic>
        <p:nvPicPr>
          <p:cNvPr id="5" name="Picture 4" descr="A shelf with colorful papers&#10;&#10;AI-generated content may be incorrect.">
            <a:extLst>
              <a:ext uri="{FF2B5EF4-FFF2-40B4-BE49-F238E27FC236}">
                <a16:creationId xmlns:a16="http://schemas.microsoft.com/office/drawing/2014/main" id="{D795CC81-9515-4A84-878C-8130D14C27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433527" y="2234222"/>
            <a:ext cx="4867031" cy="3650273"/>
          </a:xfrm>
          <a:prstGeom prst="rect">
            <a:avLst/>
          </a:prstGeom>
        </p:spPr>
      </p:pic>
      <p:pic>
        <p:nvPicPr>
          <p:cNvPr id="7" name="Picture 6" descr="A fern leaf on a white paper&#10;&#10;AI-generated content may be incorrect.">
            <a:extLst>
              <a:ext uri="{FF2B5EF4-FFF2-40B4-BE49-F238E27FC236}">
                <a16:creationId xmlns:a16="http://schemas.microsoft.com/office/drawing/2014/main" id="{2622B0D5-67CA-C61A-29FE-5FEDA22338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891442" y="2234224"/>
            <a:ext cx="4867030" cy="3650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4295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6FF4A-C3F0-D84B-19A8-6B44462CA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Collection Biases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A40F9C-96E8-C24C-EFB9-547F7F725D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Location biases b/n small vs big</a:t>
            </a:r>
          </a:p>
          <a:p>
            <a:r>
              <a:rPr lang="en-US" dirty="0"/>
              <a:t>Prefer certain plants</a:t>
            </a:r>
          </a:p>
          <a:p>
            <a:r>
              <a:rPr lang="en-US" dirty="0"/>
              <a:t>Collect certain times of year</a:t>
            </a:r>
          </a:p>
        </p:txBody>
      </p:sp>
    </p:spTree>
    <p:extLst>
      <p:ext uri="{BB962C8B-B14F-4D97-AF65-F5344CB8AC3E}">
        <p14:creationId xmlns:p14="http://schemas.microsoft.com/office/powerpoint/2010/main" val="41921446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9DC96-058E-BC3B-0EAF-5002C4A27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950859EF-534E-85AE-C8D6-282D9D9C713F}"/>
              </a:ext>
            </a:extLst>
          </p:cNvPr>
          <p:cNvGrpSpPr/>
          <p:nvPr/>
        </p:nvGrpSpPr>
        <p:grpSpPr>
          <a:xfrm>
            <a:off x="2476499" y="325956"/>
            <a:ext cx="7239002" cy="6206088"/>
            <a:chOff x="435961" y="325956"/>
            <a:chExt cx="7239002" cy="620608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80874597-912A-4AE4-9A51-5A1B221C1B5F}"/>
                </a:ext>
              </a:extLst>
            </p:cNvPr>
            <p:cNvGrpSpPr/>
            <p:nvPr/>
          </p:nvGrpSpPr>
          <p:grpSpPr>
            <a:xfrm>
              <a:off x="435961" y="4913106"/>
              <a:ext cx="7239002" cy="1618938"/>
              <a:chOff x="435964" y="3608961"/>
              <a:chExt cx="7239002" cy="1618938"/>
            </a:xfrm>
          </p:grpSpPr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F19E6BD6-F742-1E99-B43C-783F4193705B}"/>
                  </a:ext>
                </a:extLst>
              </p:cNvPr>
              <p:cNvSpPr/>
              <p:nvPr/>
            </p:nvSpPr>
            <p:spPr>
              <a:xfrm>
                <a:off x="435964" y="3608961"/>
                <a:ext cx="7239002" cy="1618938"/>
              </a:xfrm>
              <a:prstGeom prst="roundRect">
                <a:avLst/>
              </a:prstGeom>
              <a:noFill/>
              <a:ln w="5715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9D8C80D-D647-FC62-4DF0-C0E9BC3CA41A}"/>
                  </a:ext>
                </a:extLst>
              </p:cNvPr>
              <p:cNvSpPr txBox="1"/>
              <p:nvPr/>
            </p:nvSpPr>
            <p:spPr>
              <a:xfrm>
                <a:off x="1821930" y="4126042"/>
                <a:ext cx="4467069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2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Plants in World</a:t>
                </a:r>
              </a:p>
            </p:txBody>
          </p:sp>
        </p:grp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A624F73D-E99A-E8E9-E810-9FBB6431BE97}"/>
                </a:ext>
              </a:extLst>
            </p:cNvPr>
            <p:cNvSpPr/>
            <p:nvPr/>
          </p:nvSpPr>
          <p:spPr>
            <a:xfrm>
              <a:off x="1597701" y="2473417"/>
              <a:ext cx="4915525" cy="877003"/>
            </a:xfrm>
            <a:prstGeom prst="roundRect">
              <a:avLst/>
            </a:prstGeom>
            <a:noFill/>
            <a:ln w="5715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2F56371-05EF-723C-37A7-884A9237D645}"/>
                </a:ext>
              </a:extLst>
            </p:cNvPr>
            <p:cNvGrpSpPr/>
            <p:nvPr/>
          </p:nvGrpSpPr>
          <p:grpSpPr>
            <a:xfrm>
              <a:off x="2703222" y="325956"/>
              <a:ext cx="2704477" cy="584775"/>
              <a:chOff x="2703224" y="1630101"/>
              <a:chExt cx="2704477" cy="584775"/>
            </a:xfrm>
          </p:grpSpPr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A45D7897-3FED-7CAF-0724-F1A575A0E07E}"/>
                  </a:ext>
                </a:extLst>
              </p:cNvPr>
              <p:cNvSpPr/>
              <p:nvPr/>
            </p:nvSpPr>
            <p:spPr>
              <a:xfrm>
                <a:off x="2703224" y="1671404"/>
                <a:ext cx="2704477" cy="543472"/>
              </a:xfrm>
              <a:prstGeom prst="roundRect">
                <a:avLst/>
              </a:prstGeom>
              <a:noFill/>
              <a:ln w="5715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E1E8E74-87E1-2434-8E7C-C0C815F747A9}"/>
                  </a:ext>
                </a:extLst>
              </p:cNvPr>
              <p:cNvSpPr txBox="1"/>
              <p:nvPr/>
            </p:nvSpPr>
            <p:spPr>
              <a:xfrm>
                <a:off x="2954934" y="1630101"/>
                <a:ext cx="220105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2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Database</a:t>
                </a:r>
              </a:p>
            </p:txBody>
          </p: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8CDBB0BD-498A-99F9-BC04-6E585EB4DAE8}"/>
                </a:ext>
              </a:extLst>
            </p:cNvPr>
            <p:cNvSpPr txBox="1"/>
            <p:nvPr/>
          </p:nvSpPr>
          <p:spPr>
            <a:xfrm>
              <a:off x="2954935" y="2619530"/>
              <a:ext cx="220105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Herbarium</a:t>
              </a:r>
            </a:p>
          </p:txBody>
        </p:sp>
      </p:grp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DD433109-FF77-50D8-D44E-6D1AD0817E99}"/>
              </a:ext>
            </a:extLst>
          </p:cNvPr>
          <p:cNvSpPr/>
          <p:nvPr/>
        </p:nvSpPr>
        <p:spPr>
          <a:xfrm>
            <a:off x="3862465" y="3541546"/>
            <a:ext cx="4467069" cy="1113020"/>
          </a:xfrm>
          <a:prstGeom prst="triangle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A78B5A-DF0C-A383-28F8-FC658013B9F6}"/>
              </a:ext>
            </a:extLst>
          </p:cNvPr>
          <p:cNvSpPr txBox="1"/>
          <p:nvPr/>
        </p:nvSpPr>
        <p:spPr>
          <a:xfrm>
            <a:off x="4995471" y="4035945"/>
            <a:ext cx="22010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Collection</a:t>
            </a:r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FA48A69A-C29A-83BC-0863-2DC30F1E80F4}"/>
              </a:ext>
            </a:extLst>
          </p:cNvPr>
          <p:cNvSpPr/>
          <p:nvPr/>
        </p:nvSpPr>
        <p:spPr>
          <a:xfrm>
            <a:off x="3862465" y="1135564"/>
            <a:ext cx="4467069" cy="1113020"/>
          </a:xfrm>
          <a:prstGeom prst="triangle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674184-4259-0114-D0EC-AD524F3A2807}"/>
              </a:ext>
            </a:extLst>
          </p:cNvPr>
          <p:cNvSpPr txBox="1"/>
          <p:nvPr/>
        </p:nvSpPr>
        <p:spPr>
          <a:xfrm>
            <a:off x="4995471" y="1629963"/>
            <a:ext cx="22010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Digitization</a:t>
            </a:r>
          </a:p>
        </p:txBody>
      </p:sp>
    </p:spTree>
    <p:extLst>
      <p:ext uri="{BB962C8B-B14F-4D97-AF65-F5344CB8AC3E}">
        <p14:creationId xmlns:p14="http://schemas.microsoft.com/office/powerpoint/2010/main" val="40568037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5AE3B-F9EC-1A70-2A9A-6DF1B4AA6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E7EBEF42-6B0D-8FFE-A24A-719920021A0D}"/>
              </a:ext>
            </a:extLst>
          </p:cNvPr>
          <p:cNvGrpSpPr/>
          <p:nvPr/>
        </p:nvGrpSpPr>
        <p:grpSpPr>
          <a:xfrm>
            <a:off x="2288930" y="1629507"/>
            <a:ext cx="7614139" cy="4859216"/>
            <a:chOff x="1143000" y="1230923"/>
            <a:chExt cx="7614139" cy="4859216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ADF914D0-39E9-0C6A-AD51-95C66CD3E72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43000" y="1230923"/>
              <a:ext cx="4859216" cy="4859216"/>
            </a:xfrm>
            <a:prstGeom prst="ellipse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20079CE7-C7BA-4831-D93C-D19F1624C55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897923" y="1230923"/>
              <a:ext cx="4859216" cy="4859216"/>
            </a:xfrm>
            <a:prstGeom prst="ellipse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41491B3B-87B2-4769-1E38-FBAA8A4FDFC4}"/>
              </a:ext>
            </a:extLst>
          </p:cNvPr>
          <p:cNvSpPr txBox="1"/>
          <p:nvPr/>
        </p:nvSpPr>
        <p:spPr>
          <a:xfrm>
            <a:off x="5843953" y="369277"/>
            <a:ext cx="368544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Physical Specimens</a:t>
            </a:r>
          </a:p>
          <a:p>
            <a:pPr algn="ctr"/>
            <a:r>
              <a:rPr lang="en-US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FD217F-0435-0FF9-45CB-945E32B5F7A6}"/>
              </a:ext>
            </a:extLst>
          </p:cNvPr>
          <p:cNvSpPr txBox="1"/>
          <p:nvPr/>
        </p:nvSpPr>
        <p:spPr>
          <a:xfrm>
            <a:off x="3593122" y="369277"/>
            <a:ext cx="225083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WisFlora</a:t>
            </a:r>
            <a:endParaRPr lang="en-US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en-US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0363722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42BDD-2524-51EA-847A-65D7C459E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2DC864D8-6934-30C3-E975-5DA26B04E23A}"/>
              </a:ext>
            </a:extLst>
          </p:cNvPr>
          <p:cNvGrpSpPr/>
          <p:nvPr/>
        </p:nvGrpSpPr>
        <p:grpSpPr>
          <a:xfrm>
            <a:off x="2288930" y="1629507"/>
            <a:ext cx="7614139" cy="4859216"/>
            <a:chOff x="1143000" y="1230923"/>
            <a:chExt cx="7614139" cy="4859216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1211988A-4533-7F2F-F1B8-2991208B782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43000" y="1230923"/>
              <a:ext cx="4859216" cy="4859216"/>
            </a:xfrm>
            <a:prstGeom prst="ellipse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EAD88452-A0B7-7BDB-B7F9-58A2BA816B6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897923" y="1230923"/>
              <a:ext cx="4859216" cy="4859216"/>
            </a:xfrm>
            <a:prstGeom prst="ellipse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4B711E7E-0C14-8EB8-BD0A-5EF352EA8DA6}"/>
              </a:ext>
            </a:extLst>
          </p:cNvPr>
          <p:cNvSpPr txBox="1"/>
          <p:nvPr/>
        </p:nvSpPr>
        <p:spPr>
          <a:xfrm>
            <a:off x="5843953" y="369277"/>
            <a:ext cx="368544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Physical Specimens</a:t>
            </a:r>
          </a:p>
          <a:p>
            <a:pPr algn="ctr"/>
            <a:r>
              <a:rPr lang="en-US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621620-D92A-9802-9086-BBE7E4959D0A}"/>
              </a:ext>
            </a:extLst>
          </p:cNvPr>
          <p:cNvSpPr txBox="1"/>
          <p:nvPr/>
        </p:nvSpPr>
        <p:spPr>
          <a:xfrm>
            <a:off x="3593122" y="369277"/>
            <a:ext cx="225083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WisFlora</a:t>
            </a:r>
            <a:endParaRPr lang="en-US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en-US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E580DA6-BFA2-97FD-248E-359E32AF6887}"/>
              </a:ext>
            </a:extLst>
          </p:cNvPr>
          <p:cNvSpPr txBox="1"/>
          <p:nvPr/>
        </p:nvSpPr>
        <p:spPr>
          <a:xfrm>
            <a:off x="5307622" y="3766727"/>
            <a:ext cx="14624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8114799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9336E35-ACC5-DDF1-5E88-32811A48EFDA}"/>
              </a:ext>
            </a:extLst>
          </p:cNvPr>
          <p:cNvGrpSpPr/>
          <p:nvPr/>
        </p:nvGrpSpPr>
        <p:grpSpPr>
          <a:xfrm>
            <a:off x="2288930" y="1629507"/>
            <a:ext cx="7614139" cy="4859216"/>
            <a:chOff x="1143000" y="1230923"/>
            <a:chExt cx="7614139" cy="4859216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9DB82A01-3EF8-04FF-C506-8A8D5CA9381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43000" y="1230923"/>
              <a:ext cx="4859216" cy="4859216"/>
            </a:xfrm>
            <a:prstGeom prst="ellipse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EB8277CA-4313-FEF0-7B0E-1DB0B955E51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897923" y="1230923"/>
              <a:ext cx="4859216" cy="4859216"/>
            </a:xfrm>
            <a:prstGeom prst="ellipse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B8070754-DDBC-0E81-2ED0-958155B28835}"/>
              </a:ext>
            </a:extLst>
          </p:cNvPr>
          <p:cNvSpPr txBox="1"/>
          <p:nvPr/>
        </p:nvSpPr>
        <p:spPr>
          <a:xfrm>
            <a:off x="2288930" y="3658833"/>
            <a:ext cx="275492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 Herbarium Sheet</a:t>
            </a:r>
          </a:p>
          <a:p>
            <a:pPr algn="ctr"/>
            <a:r>
              <a:rPr lang="en-US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8197AC-F2CF-0DAE-9ECB-54042FF0E401}"/>
              </a:ext>
            </a:extLst>
          </p:cNvPr>
          <p:cNvSpPr txBox="1"/>
          <p:nvPr/>
        </p:nvSpPr>
        <p:spPr>
          <a:xfrm>
            <a:off x="7148146" y="3658833"/>
            <a:ext cx="275492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 </a:t>
            </a:r>
            <a:r>
              <a:rPr lang="en-US" sz="3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WisFlora</a:t>
            </a:r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Record</a:t>
            </a:r>
          </a:p>
          <a:p>
            <a:pPr algn="ctr"/>
            <a:r>
              <a:rPr lang="en-US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370747D-F647-AE4E-EE3B-082A2254819C}"/>
              </a:ext>
            </a:extLst>
          </p:cNvPr>
          <p:cNvSpPr txBox="1"/>
          <p:nvPr/>
        </p:nvSpPr>
        <p:spPr>
          <a:xfrm>
            <a:off x="5307622" y="3766727"/>
            <a:ext cx="14624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0CB553-EC28-B6FC-6411-DBCAFF2A0A50}"/>
              </a:ext>
            </a:extLst>
          </p:cNvPr>
          <p:cNvSpPr txBox="1"/>
          <p:nvPr/>
        </p:nvSpPr>
        <p:spPr>
          <a:xfrm>
            <a:off x="3593122" y="369277"/>
            <a:ext cx="225083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WisFlora</a:t>
            </a:r>
            <a:endParaRPr lang="en-US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en-US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DB0E04E-A307-FB7B-73A2-3652EC6F629E}"/>
              </a:ext>
            </a:extLst>
          </p:cNvPr>
          <p:cNvSpPr txBox="1"/>
          <p:nvPr/>
        </p:nvSpPr>
        <p:spPr>
          <a:xfrm>
            <a:off x="5843953" y="369277"/>
            <a:ext cx="368544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Physical Specimens</a:t>
            </a:r>
          </a:p>
          <a:p>
            <a:pPr algn="ctr"/>
            <a:r>
              <a:rPr lang="en-US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26874826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55A35-D97C-02DA-3620-838A433B9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92C0E11-192F-1630-F346-DC41198AA66B}"/>
              </a:ext>
            </a:extLst>
          </p:cNvPr>
          <p:cNvGrpSpPr/>
          <p:nvPr/>
        </p:nvGrpSpPr>
        <p:grpSpPr>
          <a:xfrm>
            <a:off x="2288930" y="1629507"/>
            <a:ext cx="7614139" cy="4859216"/>
            <a:chOff x="1143000" y="1230923"/>
            <a:chExt cx="7614139" cy="4859216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242DB059-10A0-457A-C494-313F00F9F13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43000" y="1230923"/>
              <a:ext cx="4859216" cy="4859216"/>
            </a:xfrm>
            <a:prstGeom prst="ellipse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CD47F5F8-C39D-4287-43ED-96AAB367599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897923" y="1230923"/>
              <a:ext cx="4859216" cy="4859216"/>
            </a:xfrm>
            <a:prstGeom prst="ellipse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16D855D0-C383-1778-EF49-81254756D371}"/>
              </a:ext>
            </a:extLst>
          </p:cNvPr>
          <p:cNvSpPr txBox="1"/>
          <p:nvPr/>
        </p:nvSpPr>
        <p:spPr>
          <a:xfrm>
            <a:off x="2288930" y="3658833"/>
            <a:ext cx="275492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 Herbarium Sheet</a:t>
            </a:r>
          </a:p>
          <a:p>
            <a:pPr algn="ctr"/>
            <a:r>
              <a:rPr lang="en-US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961D71-D6D0-85B4-0A11-5C6B99121712}"/>
              </a:ext>
            </a:extLst>
          </p:cNvPr>
          <p:cNvSpPr txBox="1"/>
          <p:nvPr/>
        </p:nvSpPr>
        <p:spPr>
          <a:xfrm>
            <a:off x="5307622" y="3766727"/>
            <a:ext cx="14624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17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F700BBA-A3AC-240A-8C08-FF65726EBE85}"/>
              </a:ext>
            </a:extLst>
          </p:cNvPr>
          <p:cNvGrpSpPr/>
          <p:nvPr/>
        </p:nvGrpSpPr>
        <p:grpSpPr>
          <a:xfrm>
            <a:off x="7387004" y="2197067"/>
            <a:ext cx="1521069" cy="3724096"/>
            <a:chOff x="7473461" y="2317846"/>
            <a:chExt cx="1521069" cy="3724096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B4ADB37-04D3-7E61-952C-D86EBDE39919}"/>
                </a:ext>
              </a:extLst>
            </p:cNvPr>
            <p:cNvSpPr txBox="1"/>
            <p:nvPr/>
          </p:nvSpPr>
          <p:spPr>
            <a:xfrm>
              <a:off x="7473461" y="2317846"/>
              <a:ext cx="1521069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WI</a:t>
              </a:r>
            </a:p>
            <a:p>
              <a:pPr algn="ctr"/>
              <a:r>
                <a:rPr lang="en-US" sz="32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7</a:t>
              </a: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C985D32E-5632-2C5B-9D2F-772A83F89E3D}"/>
                </a:ext>
              </a:extLst>
            </p:cNvPr>
            <p:cNvSpPr txBox="1"/>
            <p:nvPr/>
          </p:nvSpPr>
          <p:spPr>
            <a:xfrm>
              <a:off x="7473461" y="3395064"/>
              <a:ext cx="1521069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MN</a:t>
              </a:r>
            </a:p>
            <a:p>
              <a:pPr algn="ctr"/>
              <a:r>
                <a:rPr lang="en-US" sz="32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7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574FEA9-90F4-F3D2-44D0-E4AB08420EA7}"/>
                </a:ext>
              </a:extLst>
            </p:cNvPr>
            <p:cNvSpPr txBox="1"/>
            <p:nvPr/>
          </p:nvSpPr>
          <p:spPr>
            <a:xfrm>
              <a:off x="7473461" y="4472282"/>
              <a:ext cx="1521069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Other States</a:t>
              </a:r>
            </a:p>
            <a:p>
              <a:pPr algn="ctr"/>
              <a:r>
                <a:rPr lang="en-US" sz="32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7</a:t>
              </a: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68FD46B1-5310-5BBD-A8EF-D91E228593FE}"/>
              </a:ext>
            </a:extLst>
          </p:cNvPr>
          <p:cNvSpPr/>
          <p:nvPr/>
        </p:nvSpPr>
        <p:spPr>
          <a:xfrm>
            <a:off x="7666892" y="2197067"/>
            <a:ext cx="1002323" cy="107721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DAEE948-8CA8-2077-0675-8ABFBBC5189B}"/>
              </a:ext>
            </a:extLst>
          </p:cNvPr>
          <p:cNvSpPr txBox="1"/>
          <p:nvPr/>
        </p:nvSpPr>
        <p:spPr>
          <a:xfrm>
            <a:off x="3593122" y="369277"/>
            <a:ext cx="225083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WisFlora</a:t>
            </a:r>
            <a:endParaRPr lang="en-US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en-US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28787E2-3930-9876-B4E3-976419AFED94}"/>
              </a:ext>
            </a:extLst>
          </p:cNvPr>
          <p:cNvSpPr txBox="1"/>
          <p:nvPr/>
        </p:nvSpPr>
        <p:spPr>
          <a:xfrm>
            <a:off x="5843953" y="369277"/>
            <a:ext cx="368544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Physical Specimens</a:t>
            </a:r>
          </a:p>
          <a:p>
            <a:pPr algn="ctr"/>
            <a:r>
              <a:rPr lang="en-US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23728914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8D33F-C6A9-02B3-3B70-8A19BEC1A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C1AFB2A-00DB-A0C1-1A37-7F17569F1B2C}"/>
              </a:ext>
            </a:extLst>
          </p:cNvPr>
          <p:cNvGrpSpPr/>
          <p:nvPr/>
        </p:nvGrpSpPr>
        <p:grpSpPr>
          <a:xfrm>
            <a:off x="593706" y="2227664"/>
            <a:ext cx="4915525" cy="3024464"/>
            <a:chOff x="3638239" y="325956"/>
            <a:chExt cx="4915525" cy="3024464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1A1758C1-EB9F-E478-A039-CD325845DE98}"/>
                </a:ext>
              </a:extLst>
            </p:cNvPr>
            <p:cNvSpPr/>
            <p:nvPr/>
          </p:nvSpPr>
          <p:spPr>
            <a:xfrm>
              <a:off x="3638239" y="2473417"/>
              <a:ext cx="4915525" cy="877003"/>
            </a:xfrm>
            <a:prstGeom prst="roundRect">
              <a:avLst/>
            </a:prstGeom>
            <a:noFill/>
            <a:ln w="5715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8C6268D-1378-782F-C4C6-8BE0F10B09C1}"/>
                </a:ext>
              </a:extLst>
            </p:cNvPr>
            <p:cNvSpPr txBox="1"/>
            <p:nvPr/>
          </p:nvSpPr>
          <p:spPr>
            <a:xfrm>
              <a:off x="4995470" y="325956"/>
              <a:ext cx="220105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Database</a:t>
              </a: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96E48971-C9A0-1228-FCF9-D9DFDC05F82D}"/>
                </a:ext>
              </a:extLst>
            </p:cNvPr>
            <p:cNvSpPr txBox="1"/>
            <p:nvPr/>
          </p:nvSpPr>
          <p:spPr>
            <a:xfrm>
              <a:off x="4995473" y="2619530"/>
              <a:ext cx="220105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Herbarium</a:t>
              </a:r>
            </a:p>
          </p:txBody>
        </p:sp>
        <p:sp>
          <p:nvSpPr>
            <p:cNvPr id="8" name="Isosceles Triangle 7">
              <a:extLst>
                <a:ext uri="{FF2B5EF4-FFF2-40B4-BE49-F238E27FC236}">
                  <a16:creationId xmlns:a16="http://schemas.microsoft.com/office/drawing/2014/main" id="{6EDA7EDA-10A4-AEAA-44CF-E33FE280BF0C}"/>
                </a:ext>
              </a:extLst>
            </p:cNvPr>
            <p:cNvSpPr/>
            <p:nvPr/>
          </p:nvSpPr>
          <p:spPr>
            <a:xfrm>
              <a:off x="3862465" y="1135564"/>
              <a:ext cx="4467069" cy="1113020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 w="28575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A31CFC0-0A34-9113-D7C3-68BD5FD8D9CB}"/>
                </a:ext>
              </a:extLst>
            </p:cNvPr>
            <p:cNvSpPr txBox="1"/>
            <p:nvPr/>
          </p:nvSpPr>
          <p:spPr>
            <a:xfrm>
              <a:off x="4995471" y="1629963"/>
              <a:ext cx="220105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Digitization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949942E-8CF9-5303-CF89-88552126A94E}"/>
              </a:ext>
            </a:extLst>
          </p:cNvPr>
          <p:cNvGrpSpPr/>
          <p:nvPr/>
        </p:nvGrpSpPr>
        <p:grpSpPr>
          <a:xfrm>
            <a:off x="6682771" y="2227664"/>
            <a:ext cx="4915525" cy="3024464"/>
            <a:chOff x="3638239" y="325956"/>
            <a:chExt cx="4915525" cy="3024464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684032D4-BC2A-9078-35F8-EF020316BEF9}"/>
                </a:ext>
              </a:extLst>
            </p:cNvPr>
            <p:cNvSpPr/>
            <p:nvPr/>
          </p:nvSpPr>
          <p:spPr>
            <a:xfrm>
              <a:off x="3638239" y="2473417"/>
              <a:ext cx="4915525" cy="877003"/>
            </a:xfrm>
            <a:prstGeom prst="roundRect">
              <a:avLst/>
            </a:prstGeom>
            <a:noFill/>
            <a:ln w="5715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ED880A3-B39B-E38C-0C19-23E8C8B01C86}"/>
                </a:ext>
              </a:extLst>
            </p:cNvPr>
            <p:cNvGrpSpPr/>
            <p:nvPr/>
          </p:nvGrpSpPr>
          <p:grpSpPr>
            <a:xfrm>
              <a:off x="4743760" y="325956"/>
              <a:ext cx="2704477" cy="584775"/>
              <a:chOff x="2703224" y="1630101"/>
              <a:chExt cx="2704477" cy="584775"/>
            </a:xfrm>
          </p:grpSpPr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697B1DF2-06C3-F955-D846-787B034C2E28}"/>
                  </a:ext>
                </a:extLst>
              </p:cNvPr>
              <p:cNvSpPr/>
              <p:nvPr/>
            </p:nvSpPr>
            <p:spPr>
              <a:xfrm>
                <a:off x="2703224" y="1671404"/>
                <a:ext cx="2704477" cy="543472"/>
              </a:xfrm>
              <a:prstGeom prst="roundRect">
                <a:avLst/>
              </a:prstGeom>
              <a:noFill/>
              <a:ln w="5715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85D35A1-9362-1654-9F94-49BDE70A6E84}"/>
                  </a:ext>
                </a:extLst>
              </p:cNvPr>
              <p:cNvSpPr txBox="1"/>
              <p:nvPr/>
            </p:nvSpPr>
            <p:spPr>
              <a:xfrm>
                <a:off x="2954934" y="1630101"/>
                <a:ext cx="220105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2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Database</a:t>
                </a: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DFF44B0-22D0-6C80-23B9-D59034F853CD}"/>
                </a:ext>
              </a:extLst>
            </p:cNvPr>
            <p:cNvSpPr txBox="1"/>
            <p:nvPr/>
          </p:nvSpPr>
          <p:spPr>
            <a:xfrm>
              <a:off x="4995473" y="2619530"/>
              <a:ext cx="220105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Herbarium</a:t>
              </a:r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D889A2F3-2045-E6E1-9256-1C47539688ED}"/>
                </a:ext>
              </a:extLst>
            </p:cNvPr>
            <p:cNvSpPr/>
            <p:nvPr/>
          </p:nvSpPr>
          <p:spPr>
            <a:xfrm>
              <a:off x="3862465" y="1135564"/>
              <a:ext cx="4467069" cy="1113020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 w="28575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275B794-AEC3-B67E-6663-7F0D6960669D}"/>
                </a:ext>
              </a:extLst>
            </p:cNvPr>
            <p:cNvSpPr txBox="1"/>
            <p:nvPr/>
          </p:nvSpPr>
          <p:spPr>
            <a:xfrm>
              <a:off x="4995471" y="1629963"/>
              <a:ext cx="220105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Digitization</a:t>
              </a:r>
            </a:p>
          </p:txBody>
        </p:sp>
      </p:grp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F91CBA48-B0AE-9ADD-018F-212BA48ABF03}"/>
              </a:ext>
            </a:extLst>
          </p:cNvPr>
          <p:cNvSpPr/>
          <p:nvPr/>
        </p:nvSpPr>
        <p:spPr>
          <a:xfrm>
            <a:off x="593702" y="2014154"/>
            <a:ext cx="4915525" cy="877003"/>
          </a:xfrm>
          <a:prstGeom prst="round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C0940284-86E8-E2FC-29F2-F5D5A1715CC7}"/>
              </a:ext>
            </a:extLst>
          </p:cNvPr>
          <p:cNvSpPr txBox="1">
            <a:spLocks/>
          </p:cNvSpPr>
          <p:nvPr/>
        </p:nvSpPr>
        <p:spPr>
          <a:xfrm>
            <a:off x="2164496" y="1000156"/>
            <a:ext cx="1773936" cy="67729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Tahoma" panose="020B060403050404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Goal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2720E8D9-B834-EC50-39B9-D4129BBB069D}"/>
              </a:ext>
            </a:extLst>
          </p:cNvPr>
          <p:cNvSpPr txBox="1">
            <a:spLocks/>
          </p:cNvSpPr>
          <p:nvPr/>
        </p:nvSpPr>
        <p:spPr>
          <a:xfrm>
            <a:off x="7973146" y="1000156"/>
            <a:ext cx="2334768" cy="6772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Tahoma" panose="020B060403050404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Reality</a:t>
            </a:r>
          </a:p>
        </p:txBody>
      </p:sp>
    </p:spTree>
    <p:extLst>
      <p:ext uri="{BB962C8B-B14F-4D97-AF65-F5344CB8AC3E}">
        <p14:creationId xmlns:p14="http://schemas.microsoft.com/office/powerpoint/2010/main" val="16784857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678DE0CA-7FB1-8233-75A6-BE5A556D578A}"/>
              </a:ext>
            </a:extLst>
          </p:cNvPr>
          <p:cNvSpPr/>
          <p:nvPr/>
        </p:nvSpPr>
        <p:spPr>
          <a:xfrm>
            <a:off x="3992880" y="466344"/>
            <a:ext cx="4206240" cy="1975104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6B24D1-E045-81D3-BC22-B0E2418D03AF}"/>
              </a:ext>
            </a:extLst>
          </p:cNvPr>
          <p:cNvSpPr txBox="1"/>
          <p:nvPr/>
        </p:nvSpPr>
        <p:spPr>
          <a:xfrm>
            <a:off x="4574771" y="785444"/>
            <a:ext cx="304245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Database Characteristics?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AE637CF-B462-995A-6BD0-2A1FC17C348F}"/>
              </a:ext>
            </a:extLst>
          </p:cNvPr>
          <p:cNvGrpSpPr/>
          <p:nvPr/>
        </p:nvGrpSpPr>
        <p:grpSpPr>
          <a:xfrm>
            <a:off x="8571703" y="2441448"/>
            <a:ext cx="3239193" cy="3655653"/>
            <a:chOff x="8395857" y="1960314"/>
            <a:chExt cx="3239193" cy="3655653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731F478B-8460-A09D-1A11-C964AC4DDEE2}"/>
                </a:ext>
              </a:extLst>
            </p:cNvPr>
            <p:cNvGrpSpPr/>
            <p:nvPr/>
          </p:nvGrpSpPr>
          <p:grpSpPr>
            <a:xfrm>
              <a:off x="8395857" y="1960314"/>
              <a:ext cx="3239193" cy="1471354"/>
              <a:chOff x="753687" y="2945199"/>
              <a:chExt cx="3239193" cy="1471354"/>
            </a:xfrm>
          </p:grpSpPr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1247D64F-7CCF-26B5-78D0-42314919F102}"/>
                  </a:ext>
                </a:extLst>
              </p:cNvPr>
              <p:cNvSpPr/>
              <p:nvPr/>
            </p:nvSpPr>
            <p:spPr>
              <a:xfrm>
                <a:off x="753687" y="2945199"/>
                <a:ext cx="3239193" cy="1471354"/>
              </a:xfrm>
              <a:prstGeom prst="ellipse">
                <a:avLst/>
              </a:prstGeom>
              <a:solidFill>
                <a:schemeClr val="accent6"/>
              </a:solidFill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2026640-6EE9-9CB4-EEE1-BB85ED7390DD}"/>
                  </a:ext>
                </a:extLst>
              </p:cNvPr>
              <p:cNvSpPr txBox="1"/>
              <p:nvPr/>
            </p:nvSpPr>
            <p:spPr>
              <a:xfrm>
                <a:off x="852054" y="3388488"/>
                <a:ext cx="304245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200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Collectors?</a:t>
                </a:r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4FD5C00-6515-DBC6-B931-AB1A6A7CDE99}"/>
                </a:ext>
              </a:extLst>
            </p:cNvPr>
            <p:cNvSpPr txBox="1"/>
            <p:nvPr/>
          </p:nvSpPr>
          <p:spPr>
            <a:xfrm>
              <a:off x="8592592" y="3553864"/>
              <a:ext cx="3042458" cy="2062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sz="32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Oeuvre size?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sz="32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Where?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sz="32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When?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sz="32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What?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AADF35F-398C-4FE5-47E2-2CD79FC201FA}"/>
              </a:ext>
            </a:extLst>
          </p:cNvPr>
          <p:cNvGrpSpPr/>
          <p:nvPr/>
        </p:nvGrpSpPr>
        <p:grpSpPr>
          <a:xfrm>
            <a:off x="381104" y="2441448"/>
            <a:ext cx="3435927" cy="4643206"/>
            <a:chOff x="381104" y="2441448"/>
            <a:chExt cx="3435927" cy="4643206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4E8557DB-5A8A-9BE8-9EB8-B4ACC2F640BC}"/>
                </a:ext>
              </a:extLst>
            </p:cNvPr>
            <p:cNvGrpSpPr/>
            <p:nvPr/>
          </p:nvGrpSpPr>
          <p:grpSpPr>
            <a:xfrm>
              <a:off x="381104" y="2441448"/>
              <a:ext cx="3239193" cy="1471354"/>
              <a:chOff x="753687" y="2945199"/>
              <a:chExt cx="3239193" cy="1471354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B4FD1469-02BF-1684-BD71-75C68EB93352}"/>
                  </a:ext>
                </a:extLst>
              </p:cNvPr>
              <p:cNvSpPr/>
              <p:nvPr/>
            </p:nvSpPr>
            <p:spPr>
              <a:xfrm>
                <a:off x="753687" y="2945199"/>
                <a:ext cx="3239193" cy="1471354"/>
              </a:xfrm>
              <a:prstGeom prst="ellipse">
                <a:avLst/>
              </a:prstGeom>
              <a:solidFill>
                <a:schemeClr val="accent6"/>
              </a:solidFill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496624D-2FCD-F2A8-DBBD-F0BB4EBA5256}"/>
                  </a:ext>
                </a:extLst>
              </p:cNvPr>
              <p:cNvSpPr txBox="1"/>
              <p:nvPr/>
            </p:nvSpPr>
            <p:spPr>
              <a:xfrm>
                <a:off x="852054" y="3388488"/>
                <a:ext cx="304245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200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Basic Stats?</a:t>
                </a:r>
              </a:p>
            </p:txBody>
          </p: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64444EF-E980-A5B7-CB10-3D97F8372675}"/>
                </a:ext>
              </a:extLst>
            </p:cNvPr>
            <p:cNvSpPr txBox="1"/>
            <p:nvPr/>
          </p:nvSpPr>
          <p:spPr>
            <a:xfrm>
              <a:off x="479471" y="4037666"/>
              <a:ext cx="3337560" cy="30469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sz="32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How many specimens?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sz="32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What families?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sz="32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How many collectors?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endPara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B7DA463-398F-01DF-41FC-A478213D1299}"/>
              </a:ext>
            </a:extLst>
          </p:cNvPr>
          <p:cNvGrpSpPr/>
          <p:nvPr/>
        </p:nvGrpSpPr>
        <p:grpSpPr>
          <a:xfrm>
            <a:off x="4476403" y="3902963"/>
            <a:ext cx="3239193" cy="3234444"/>
            <a:chOff x="519864" y="3006148"/>
            <a:chExt cx="3239193" cy="3234444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DB90293C-18E0-DA40-7742-AC0D9440D81F}"/>
                </a:ext>
              </a:extLst>
            </p:cNvPr>
            <p:cNvGrpSpPr/>
            <p:nvPr/>
          </p:nvGrpSpPr>
          <p:grpSpPr>
            <a:xfrm>
              <a:off x="519864" y="3006148"/>
              <a:ext cx="3239193" cy="1471354"/>
              <a:chOff x="753687" y="2945199"/>
              <a:chExt cx="3239193" cy="1471354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48531915-9731-CE79-6CCC-857C0C444B11}"/>
                  </a:ext>
                </a:extLst>
              </p:cNvPr>
              <p:cNvSpPr/>
              <p:nvPr/>
            </p:nvSpPr>
            <p:spPr>
              <a:xfrm>
                <a:off x="753687" y="2945199"/>
                <a:ext cx="3239193" cy="1471354"/>
              </a:xfrm>
              <a:prstGeom prst="ellipse">
                <a:avLst/>
              </a:prstGeom>
              <a:solidFill>
                <a:schemeClr val="accent6"/>
              </a:solidFill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90EB7E3-5CA8-4051-72DA-AF3D1C267217}"/>
                  </a:ext>
                </a:extLst>
              </p:cNvPr>
              <p:cNvSpPr txBox="1"/>
              <p:nvPr/>
            </p:nvSpPr>
            <p:spPr>
              <a:xfrm>
                <a:off x="852054" y="3388488"/>
                <a:ext cx="304245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200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Geography?</a:t>
                </a:r>
              </a:p>
            </p:txBody>
          </p:sp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EC94730-01FE-114D-836B-F846EA7E5824}"/>
                </a:ext>
              </a:extLst>
            </p:cNvPr>
            <p:cNvSpPr txBox="1"/>
            <p:nvPr/>
          </p:nvSpPr>
          <p:spPr>
            <a:xfrm>
              <a:off x="996460" y="4670932"/>
              <a:ext cx="2286000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sz="32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Range?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sz="32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Scale?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endPara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469056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69BEC-4919-881A-9F8C-86A76A42F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FA024-4289-AB65-D0AC-069DD777A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5664"/>
            <a:ext cx="10515600" cy="830629"/>
          </a:xfrm>
        </p:spPr>
        <p:txBody>
          <a:bodyPr/>
          <a:lstStyle/>
          <a:p>
            <a:pPr algn="ctr"/>
            <a:r>
              <a:rPr lang="en-US" dirty="0"/>
              <a:t>Methods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65A24EF-CDDC-9501-6CB7-931FC470D549}"/>
              </a:ext>
            </a:extLst>
          </p:cNvPr>
          <p:cNvGrpSpPr/>
          <p:nvPr/>
        </p:nvGrpSpPr>
        <p:grpSpPr>
          <a:xfrm>
            <a:off x="2047875" y="1114511"/>
            <a:ext cx="8096250" cy="1738312"/>
            <a:chOff x="2047875" y="1690688"/>
            <a:chExt cx="8096250" cy="1738312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A9BCE590-4C2D-96EF-D235-2CB0E3BCE62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47875" y="1690688"/>
              <a:ext cx="8096250" cy="1095375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28C2C94-D8D4-9413-AD73-04FEFC092C7E}"/>
                </a:ext>
              </a:extLst>
            </p:cNvPr>
            <p:cNvSpPr txBox="1"/>
            <p:nvPr/>
          </p:nvSpPr>
          <p:spPr>
            <a:xfrm>
              <a:off x="4566138" y="2844225"/>
              <a:ext cx="305972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*SUWS*</a:t>
              </a:r>
            </a:p>
          </p:txBody>
        </p:sp>
      </p:grpSp>
      <p:pic>
        <p:nvPicPr>
          <p:cNvPr id="1028" name="Picture 4">
            <a:extLst>
              <a:ext uri="{FF2B5EF4-FFF2-40B4-BE49-F238E27FC236}">
                <a16:creationId xmlns:a16="http://schemas.microsoft.com/office/drawing/2014/main" id="{A8F14170-9600-7277-3AAA-77629EFE4E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199" y="4234627"/>
            <a:ext cx="2143125" cy="2143125"/>
          </a:xfrm>
          <a:prstGeom prst="rect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6242D4A-69E3-1CC2-60B0-9C1625112FCB}"/>
              </a:ext>
            </a:extLst>
          </p:cNvPr>
          <p:cNvSpPr txBox="1"/>
          <p:nvPr/>
        </p:nvSpPr>
        <p:spPr>
          <a:xfrm>
            <a:off x="3036276" y="4231907"/>
            <a:ext cx="305972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Cleaning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Columns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31 Duplicate Records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1F9DF5-00D5-80CC-B350-26D8A2B0C72B}"/>
              </a:ext>
            </a:extLst>
          </p:cNvPr>
          <p:cNvSpPr txBox="1"/>
          <p:nvPr/>
        </p:nvSpPr>
        <p:spPr>
          <a:xfrm>
            <a:off x="10597598" y="3942239"/>
            <a:ext cx="13423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Maps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4AD6A8-D112-1220-67F9-5464A29DA172}"/>
              </a:ext>
            </a:extLst>
          </p:cNvPr>
          <p:cNvSpPr txBox="1"/>
          <p:nvPr/>
        </p:nvSpPr>
        <p:spPr>
          <a:xfrm>
            <a:off x="8848539" y="5306189"/>
            <a:ext cx="17490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Graphs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B36AF6C-6911-54DC-F00C-7B2AB2D57FB1}"/>
              </a:ext>
            </a:extLst>
          </p:cNvPr>
          <p:cNvCxnSpPr/>
          <p:nvPr/>
        </p:nvCxnSpPr>
        <p:spPr>
          <a:xfrm>
            <a:off x="2407505" y="3042139"/>
            <a:ext cx="7120061" cy="0"/>
          </a:xfrm>
          <a:prstGeom prst="line">
            <a:avLst/>
          </a:prstGeom>
          <a:ln w="38100">
            <a:solidFill>
              <a:schemeClr val="accent6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Arrow: Curved Right 12">
            <a:extLst>
              <a:ext uri="{FF2B5EF4-FFF2-40B4-BE49-F238E27FC236}">
                <a16:creationId xmlns:a16="http://schemas.microsoft.com/office/drawing/2014/main" id="{E482DAFE-29FA-75C4-25C3-690E8C991417}"/>
              </a:ext>
            </a:extLst>
          </p:cNvPr>
          <p:cNvSpPr/>
          <p:nvPr/>
        </p:nvSpPr>
        <p:spPr>
          <a:xfrm rot="1255193">
            <a:off x="488679" y="1558624"/>
            <a:ext cx="951036" cy="2289280"/>
          </a:xfrm>
          <a:prstGeom prst="curvedRightArrow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57C43C8-D1DA-B4B3-B9D7-A92887BD990A}"/>
              </a:ext>
            </a:extLst>
          </p:cNvPr>
          <p:cNvGrpSpPr/>
          <p:nvPr/>
        </p:nvGrpSpPr>
        <p:grpSpPr>
          <a:xfrm>
            <a:off x="6686012" y="3756389"/>
            <a:ext cx="2888705" cy="951036"/>
            <a:chOff x="6961733" y="3809659"/>
            <a:chExt cx="2888705" cy="951036"/>
          </a:xfrm>
        </p:grpSpPr>
        <p:pic>
          <p:nvPicPr>
            <p:cNvPr id="1032" name="Picture 8" descr="Towson University GIS ...">
              <a:extLst>
                <a:ext uri="{FF2B5EF4-FFF2-40B4-BE49-F238E27FC236}">
                  <a16:creationId xmlns:a16="http://schemas.microsoft.com/office/drawing/2014/main" id="{64C7177A-4DF3-275B-0F6D-9421DC4110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61733" y="3809659"/>
              <a:ext cx="951036" cy="951036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4">
              <a:extLst>
                <a:ext uri="{FF2B5EF4-FFF2-40B4-BE49-F238E27FC236}">
                  <a16:creationId xmlns:a16="http://schemas.microsoft.com/office/drawing/2014/main" id="{5F5528D6-390F-E1EE-20E7-7D4CEB4734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99402" y="3809659"/>
              <a:ext cx="951036" cy="951036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39EB28E4-F229-313B-BFEE-DE5BD425A9D0}"/>
                </a:ext>
              </a:extLst>
            </p:cNvPr>
            <p:cNvGrpSpPr/>
            <p:nvPr/>
          </p:nvGrpSpPr>
          <p:grpSpPr>
            <a:xfrm>
              <a:off x="8096130" y="3931475"/>
              <a:ext cx="556846" cy="707404"/>
              <a:chOff x="10796954" y="2703264"/>
              <a:chExt cx="556846" cy="707404"/>
            </a:xfrm>
          </p:grpSpPr>
          <p:sp>
            <p:nvSpPr>
              <p:cNvPr id="14" name="Arrow: Right 13">
                <a:extLst>
                  <a:ext uri="{FF2B5EF4-FFF2-40B4-BE49-F238E27FC236}">
                    <a16:creationId xmlns:a16="http://schemas.microsoft.com/office/drawing/2014/main" id="{F67A0657-6533-153B-4185-533DA7273331}"/>
                  </a:ext>
                </a:extLst>
              </p:cNvPr>
              <p:cNvSpPr/>
              <p:nvPr/>
            </p:nvSpPr>
            <p:spPr>
              <a:xfrm>
                <a:off x="10796954" y="2703264"/>
                <a:ext cx="556846" cy="338868"/>
              </a:xfrm>
              <a:prstGeom prst="rightArrow">
                <a:avLst/>
              </a:prstGeom>
              <a:solidFill>
                <a:schemeClr val="bg1">
                  <a:lumMod val="85000"/>
                </a:schemeClr>
              </a:solidFill>
              <a:ln w="190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Arrow: Right 14">
                <a:extLst>
                  <a:ext uri="{FF2B5EF4-FFF2-40B4-BE49-F238E27FC236}">
                    <a16:creationId xmlns:a16="http://schemas.microsoft.com/office/drawing/2014/main" id="{BAA7B0D6-CB0C-A0C7-3B9C-1D17895247A4}"/>
                  </a:ext>
                </a:extLst>
              </p:cNvPr>
              <p:cNvSpPr/>
              <p:nvPr/>
            </p:nvSpPr>
            <p:spPr>
              <a:xfrm rot="10800000">
                <a:off x="10796954" y="3071800"/>
                <a:ext cx="556846" cy="338868"/>
              </a:xfrm>
              <a:prstGeom prst="rightArrow">
                <a:avLst/>
              </a:prstGeom>
              <a:solidFill>
                <a:schemeClr val="bg1">
                  <a:lumMod val="85000"/>
                </a:schemeClr>
              </a:solidFill>
              <a:ln w="190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9" name="Arrow: Curved Right 18">
            <a:extLst>
              <a:ext uri="{FF2B5EF4-FFF2-40B4-BE49-F238E27FC236}">
                <a16:creationId xmlns:a16="http://schemas.microsoft.com/office/drawing/2014/main" id="{CC45FFF8-983B-C7EF-9538-63DE6DD9F39C}"/>
              </a:ext>
            </a:extLst>
          </p:cNvPr>
          <p:cNvSpPr/>
          <p:nvPr/>
        </p:nvSpPr>
        <p:spPr>
          <a:xfrm rot="5776415" flipV="1">
            <a:off x="3091990" y="2786059"/>
            <a:ext cx="662711" cy="1971066"/>
          </a:xfrm>
          <a:prstGeom prst="curvedRightArrow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4A1B779E-6B14-9359-40EF-9950ECC4F733}"/>
              </a:ext>
            </a:extLst>
          </p:cNvPr>
          <p:cNvSpPr>
            <a:spLocks noChangeAspect="1"/>
          </p:cNvSpPr>
          <p:nvPr/>
        </p:nvSpPr>
        <p:spPr>
          <a:xfrm rot="20129135">
            <a:off x="5649756" y="4088625"/>
            <a:ext cx="813103" cy="494813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42062374-B39B-32D4-2D0F-0E83C9F9F633}"/>
              </a:ext>
            </a:extLst>
          </p:cNvPr>
          <p:cNvSpPr>
            <a:spLocks noChangeAspect="1"/>
          </p:cNvSpPr>
          <p:nvPr/>
        </p:nvSpPr>
        <p:spPr>
          <a:xfrm>
            <a:off x="9695611" y="3961252"/>
            <a:ext cx="813103" cy="494813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C0A09748-2544-CC45-4B89-5EF0115FB85A}"/>
              </a:ext>
            </a:extLst>
          </p:cNvPr>
          <p:cNvSpPr>
            <a:spLocks noChangeAspect="1"/>
          </p:cNvSpPr>
          <p:nvPr/>
        </p:nvSpPr>
        <p:spPr>
          <a:xfrm rot="1627129">
            <a:off x="5741986" y="4897471"/>
            <a:ext cx="813103" cy="494813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4">
            <a:extLst>
              <a:ext uri="{FF2B5EF4-FFF2-40B4-BE49-F238E27FC236}">
                <a16:creationId xmlns:a16="http://schemas.microsoft.com/office/drawing/2014/main" id="{0AE2CF0D-BF6D-7C2B-4BF4-98818A54B6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6012" y="5219053"/>
            <a:ext cx="951036" cy="951036"/>
          </a:xfrm>
          <a:prstGeom prst="rect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Arrow: Right 23">
            <a:extLst>
              <a:ext uri="{FF2B5EF4-FFF2-40B4-BE49-F238E27FC236}">
                <a16:creationId xmlns:a16="http://schemas.microsoft.com/office/drawing/2014/main" id="{BE6027D0-8D93-48BA-DC11-C1E85A3DD52F}"/>
              </a:ext>
            </a:extLst>
          </p:cNvPr>
          <p:cNvSpPr>
            <a:spLocks noChangeAspect="1"/>
          </p:cNvSpPr>
          <p:nvPr/>
        </p:nvSpPr>
        <p:spPr>
          <a:xfrm>
            <a:off x="7961572" y="5383660"/>
            <a:ext cx="813103" cy="494813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1716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7579C-4C94-2011-ACDE-8D75D0BD6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How many specimens and </a:t>
            </a:r>
            <a:br>
              <a:rPr lang="en-US" dirty="0"/>
            </a:br>
            <a:r>
              <a:rPr lang="en-US" dirty="0"/>
              <a:t>collectors are there?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332022E-619D-45CD-62E6-BCB84DED9D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1173" y="1712515"/>
            <a:ext cx="5157787" cy="823912"/>
          </a:xfrm>
        </p:spPr>
        <p:txBody>
          <a:bodyPr/>
          <a:lstStyle/>
          <a:p>
            <a:pPr algn="ctr"/>
            <a:r>
              <a:rPr lang="en-US" dirty="0"/>
              <a:t>Specimens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23092DD-126B-7C0D-A697-2532B42920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155027" y="2947589"/>
            <a:ext cx="1663701" cy="60960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4000" dirty="0"/>
              <a:t>5,250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A8C1AE6-CF29-3EF0-27FC-7558EDC830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82587" y="4250930"/>
            <a:ext cx="5183188" cy="823912"/>
          </a:xfrm>
        </p:spPr>
        <p:txBody>
          <a:bodyPr/>
          <a:lstStyle/>
          <a:p>
            <a:pPr algn="ctr"/>
            <a:r>
              <a:rPr lang="en-US" dirty="0"/>
              <a:t>Collectors</a:t>
            </a:r>
          </a:p>
        </p:txBody>
      </p:sp>
      <p:sp>
        <p:nvSpPr>
          <p:cNvPr id="12" name="Flowchart: Process 11">
            <a:extLst>
              <a:ext uri="{FF2B5EF4-FFF2-40B4-BE49-F238E27FC236}">
                <a16:creationId xmlns:a16="http://schemas.microsoft.com/office/drawing/2014/main" id="{F1A66A1B-D8C6-7A30-B2C9-5B32067F542A}"/>
              </a:ext>
            </a:extLst>
          </p:cNvPr>
          <p:cNvSpPr/>
          <p:nvPr/>
        </p:nvSpPr>
        <p:spPr>
          <a:xfrm>
            <a:off x="1697035" y="2638819"/>
            <a:ext cx="2700338" cy="1271589"/>
          </a:xfrm>
          <a:prstGeom prst="flowChartProcess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8">
            <a:extLst>
              <a:ext uri="{FF2B5EF4-FFF2-40B4-BE49-F238E27FC236}">
                <a16:creationId xmlns:a16="http://schemas.microsoft.com/office/drawing/2014/main" id="{0A93C062-5AB6-C50D-636A-0E7D1D7100FA}"/>
              </a:ext>
            </a:extLst>
          </p:cNvPr>
          <p:cNvSpPr txBox="1">
            <a:spLocks/>
          </p:cNvSpPr>
          <p:nvPr/>
        </p:nvSpPr>
        <p:spPr>
          <a:xfrm>
            <a:off x="2169319" y="5530056"/>
            <a:ext cx="1663701" cy="609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b="1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b="1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b="1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b="1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b="1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4000" dirty="0"/>
              <a:t>292</a:t>
            </a:r>
          </a:p>
        </p:txBody>
      </p:sp>
      <p:sp>
        <p:nvSpPr>
          <p:cNvPr id="14" name="Flowchart: Process 13">
            <a:extLst>
              <a:ext uri="{FF2B5EF4-FFF2-40B4-BE49-F238E27FC236}">
                <a16:creationId xmlns:a16="http://schemas.microsoft.com/office/drawing/2014/main" id="{109E89A9-789B-2B21-BE1B-11DD2A3A6F7A}"/>
              </a:ext>
            </a:extLst>
          </p:cNvPr>
          <p:cNvSpPr/>
          <p:nvPr/>
        </p:nvSpPr>
        <p:spPr>
          <a:xfrm>
            <a:off x="1711327" y="5221286"/>
            <a:ext cx="2700338" cy="1271589"/>
          </a:xfrm>
          <a:prstGeom prst="flowChartProcess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5045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8C369-E29A-7684-2A7B-C2AA96EDA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56290"/>
          </a:xfrm>
        </p:spPr>
        <p:txBody>
          <a:bodyPr/>
          <a:lstStyle/>
          <a:p>
            <a:pPr algn="ctr"/>
            <a:r>
              <a:rPr lang="en-US" dirty="0"/>
              <a:t>Where were specimens collected?</a:t>
            </a:r>
          </a:p>
        </p:txBody>
      </p:sp>
      <p:pic>
        <p:nvPicPr>
          <p:cNvPr id="4" name="Picture 3" descr="A map of the state of wisconsin&#10;&#10;AI-generated content may be incorrect.">
            <a:extLst>
              <a:ext uri="{FF2B5EF4-FFF2-40B4-BE49-F238E27FC236}">
                <a16:creationId xmlns:a16="http://schemas.microsoft.com/office/drawing/2014/main" id="{68C561E9-CB93-62F5-7BD8-A962005959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081"/>
          <a:stretch>
            <a:fillRect/>
          </a:stretch>
        </p:blipFill>
        <p:spPr>
          <a:xfrm>
            <a:off x="6520594" y="1056290"/>
            <a:ext cx="5299364" cy="554946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 descr="A map of the state of wisconsin&#10;&#10;AI-generated content may be incorrect.">
            <a:extLst>
              <a:ext uri="{FF2B5EF4-FFF2-40B4-BE49-F238E27FC236}">
                <a16:creationId xmlns:a16="http://schemas.microsoft.com/office/drawing/2014/main" id="{C8001923-9219-A695-AEEB-0BD22C43AB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081"/>
          <a:stretch>
            <a:fillRect/>
          </a:stretch>
        </p:blipFill>
        <p:spPr>
          <a:xfrm>
            <a:off x="372042" y="1056290"/>
            <a:ext cx="5299364" cy="554946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588537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AFACD-DDD1-4AE0-B5D7-44200EF56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E1039-177E-2BA9-4888-2B0A4028B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56290"/>
          </a:xfrm>
        </p:spPr>
        <p:txBody>
          <a:bodyPr/>
          <a:lstStyle/>
          <a:p>
            <a:pPr algn="ctr"/>
            <a:r>
              <a:rPr lang="en-US" dirty="0"/>
              <a:t>Where were specimens collected?</a:t>
            </a:r>
          </a:p>
        </p:txBody>
      </p:sp>
      <p:pic>
        <p:nvPicPr>
          <p:cNvPr id="5" name="Picture 4" descr="A map of the state of wisconsin&#10;&#10;AI-generated content may be incorrect.">
            <a:extLst>
              <a:ext uri="{FF2B5EF4-FFF2-40B4-BE49-F238E27FC236}">
                <a16:creationId xmlns:a16="http://schemas.microsoft.com/office/drawing/2014/main" id="{2CE60E81-B694-571D-9DF2-688417F155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081"/>
          <a:stretch>
            <a:fillRect/>
          </a:stretch>
        </p:blipFill>
        <p:spPr>
          <a:xfrm>
            <a:off x="6520594" y="1056290"/>
            <a:ext cx="5299364" cy="554946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 descr="A map of the state of wisconsin&#10;&#10;AI-generated content may be incorrect.">
            <a:extLst>
              <a:ext uri="{FF2B5EF4-FFF2-40B4-BE49-F238E27FC236}">
                <a16:creationId xmlns:a16="http://schemas.microsoft.com/office/drawing/2014/main" id="{8B634E79-C99B-F921-F558-62FEB5373E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081"/>
          <a:stretch>
            <a:fillRect/>
          </a:stretch>
        </p:blipFill>
        <p:spPr>
          <a:xfrm>
            <a:off x="372042" y="1056290"/>
            <a:ext cx="5299364" cy="554946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850927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A circular diagram with many names&#10;&#10;AI-generated content may be incorrect.">
            <a:extLst>
              <a:ext uri="{FF2B5EF4-FFF2-40B4-BE49-F238E27FC236}">
                <a16:creationId xmlns:a16="http://schemas.microsoft.com/office/drawing/2014/main" id="{A76E7365-25FC-4A70-26A0-062DB27EC8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35"/>
          <a:stretch>
            <a:fillRect/>
          </a:stretch>
        </p:blipFill>
        <p:spPr>
          <a:xfrm>
            <a:off x="0" y="-1"/>
            <a:ext cx="8109118" cy="6858000"/>
          </a:xfrm>
          <a:prstGeom prst="rect">
            <a:avLst/>
          </a:prstGeom>
        </p:spPr>
      </p:pic>
      <p:sp>
        <p:nvSpPr>
          <p:cNvPr id="22" name="Flowchart: Process 21">
            <a:extLst>
              <a:ext uri="{FF2B5EF4-FFF2-40B4-BE49-F238E27FC236}">
                <a16:creationId xmlns:a16="http://schemas.microsoft.com/office/drawing/2014/main" id="{45F842E8-B2D0-6251-B6FB-488DE160BD81}"/>
              </a:ext>
            </a:extLst>
          </p:cNvPr>
          <p:cNvSpPr/>
          <p:nvPr/>
        </p:nvSpPr>
        <p:spPr>
          <a:xfrm>
            <a:off x="6766718" y="0"/>
            <a:ext cx="5405437" cy="5457826"/>
          </a:xfrm>
          <a:prstGeom prst="flowChartProcess">
            <a:avLst/>
          </a:prstGeom>
          <a:solidFill>
            <a:srgbClr val="FFEB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441046BE-CE92-3049-B39E-BA2010699755}"/>
              </a:ext>
            </a:extLst>
          </p:cNvPr>
          <p:cNvSpPr txBox="1">
            <a:spLocks/>
          </p:cNvSpPr>
          <p:nvPr/>
        </p:nvSpPr>
        <p:spPr>
          <a:xfrm>
            <a:off x="7072313" y="336550"/>
            <a:ext cx="4794249" cy="20351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Tahoma" panose="020B060403050404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What species of plants were they collecting?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FF888593-022C-CF04-D4E0-F5612B8B4346}"/>
              </a:ext>
            </a:extLst>
          </p:cNvPr>
          <p:cNvSpPr txBox="1">
            <a:spLocks/>
          </p:cNvSpPr>
          <p:nvPr/>
        </p:nvSpPr>
        <p:spPr>
          <a:xfrm>
            <a:off x="7072313" y="2371725"/>
            <a:ext cx="4794248" cy="28844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b="1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b="1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b="1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b="1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b="1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/>
              <a:t>Asteraceae – 803</a:t>
            </a:r>
          </a:p>
          <a:p>
            <a:r>
              <a:rPr lang="en-US" b="0" dirty="0"/>
              <a:t>Rosaceae – 421</a:t>
            </a:r>
          </a:p>
          <a:p>
            <a:r>
              <a:rPr lang="en-US" b="0" dirty="0"/>
              <a:t>Fabaceae – 302</a:t>
            </a:r>
          </a:p>
          <a:p>
            <a:r>
              <a:rPr lang="en-US" b="0" dirty="0"/>
              <a:t>Ranunculaceae – 243</a:t>
            </a:r>
          </a:p>
          <a:p>
            <a:r>
              <a:rPr lang="en-US" b="0" dirty="0"/>
              <a:t>Cyperaceae - 240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B4273ED5-5E32-37FF-270F-8E1D262B6A18}"/>
              </a:ext>
            </a:extLst>
          </p:cNvPr>
          <p:cNvSpPr txBox="1">
            <a:spLocks/>
          </p:cNvSpPr>
          <p:nvPr/>
        </p:nvSpPr>
        <p:spPr>
          <a:xfrm>
            <a:off x="8109118" y="5707064"/>
            <a:ext cx="4082882" cy="84296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b="1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b="1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b="1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b="1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b="1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800" dirty="0"/>
              <a:t>38% of specimens are from 5 families.</a:t>
            </a:r>
          </a:p>
        </p:txBody>
      </p:sp>
    </p:spTree>
    <p:extLst>
      <p:ext uri="{BB962C8B-B14F-4D97-AF65-F5344CB8AC3E}">
        <p14:creationId xmlns:p14="http://schemas.microsoft.com/office/powerpoint/2010/main" val="25042066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94913-918A-D7B5-C58A-D6CF2639B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Is the collection dominated </a:t>
            </a:r>
            <a:br>
              <a:rPr lang="en-US" dirty="0"/>
            </a:br>
            <a:r>
              <a:rPr lang="en-US" dirty="0"/>
              <a:t>by small or large collectors?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A50F332-BD03-22C0-F78D-0E738FF835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6725" y="1983581"/>
            <a:ext cx="6055611" cy="4351338"/>
          </a:xfrm>
          <a:ln w="19050">
            <a:solidFill>
              <a:schemeClr val="tx1"/>
            </a:solidFill>
          </a:ln>
        </p:spPr>
      </p:pic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C48DF0F9-85E9-36B4-E6B3-AB2F998291D5}"/>
              </a:ext>
            </a:extLst>
          </p:cNvPr>
          <p:cNvSpPr txBox="1">
            <a:spLocks/>
          </p:cNvSpPr>
          <p:nvPr/>
        </p:nvSpPr>
        <p:spPr>
          <a:xfrm>
            <a:off x="7000874" y="1825625"/>
            <a:ext cx="4352925" cy="466725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b="1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b="1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b="1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b="1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b="1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/>
              <a:t>Collectors contributed 6,485 times in 5,250 collections</a:t>
            </a:r>
          </a:p>
          <a:p>
            <a:r>
              <a:rPr lang="en-US" b="0" dirty="0"/>
              <a:t>Collectors with &gt; 125 collections contributed 3,195 times</a:t>
            </a:r>
          </a:p>
          <a:p>
            <a:r>
              <a:rPr lang="en-US" dirty="0"/>
              <a:t>49% of the time someone contributes, they have more than 125 specimens.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14643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77442-CAB8-DD4F-675E-14C48A453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Who are the top collectors?</a:t>
            </a:r>
          </a:p>
        </p:txBody>
      </p:sp>
      <p:pic>
        <p:nvPicPr>
          <p:cNvPr id="5" name="Content Placeholder 4" descr="A graph of numbers and letters&#10;&#10;AI-generated content may be incorrect.">
            <a:extLst>
              <a:ext uri="{FF2B5EF4-FFF2-40B4-BE49-F238E27FC236}">
                <a16:creationId xmlns:a16="http://schemas.microsoft.com/office/drawing/2014/main" id="{5E37FAA1-4DBD-D857-A028-C7DD3AFA8B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8194" y="1825625"/>
            <a:ext cx="6055611" cy="4351338"/>
          </a:xfr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192849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10729-984F-6C74-7E52-CF37A2345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ap of the state of wisconsin&#10;&#10;AI-generated content may be incorrect.">
            <a:extLst>
              <a:ext uri="{FF2B5EF4-FFF2-40B4-BE49-F238E27FC236}">
                <a16:creationId xmlns:a16="http://schemas.microsoft.com/office/drawing/2014/main" id="{19F6FCBC-31A3-D8A9-B1A4-05D520313D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38" t="3200" r="4438" b="19527"/>
          <a:stretch>
            <a:fillRect/>
          </a:stretch>
        </p:blipFill>
        <p:spPr>
          <a:xfrm>
            <a:off x="3337033" y="382312"/>
            <a:ext cx="2427891" cy="2664373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6" name="Picture 5" descr="A map of the state of wisconsin&#10;&#10;AI-generated content may be incorrect.">
            <a:extLst>
              <a:ext uri="{FF2B5EF4-FFF2-40B4-BE49-F238E27FC236}">
                <a16:creationId xmlns:a16="http://schemas.microsoft.com/office/drawing/2014/main" id="{C4A2D9D2-BF62-622C-7394-64BF01E99B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38" t="3200" r="4438" b="19527"/>
          <a:stretch>
            <a:fillRect/>
          </a:stretch>
        </p:blipFill>
        <p:spPr>
          <a:xfrm>
            <a:off x="6427078" y="382312"/>
            <a:ext cx="2427891" cy="2664373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8" name="Picture 7" descr="A map of the state of wisconsin&#10;&#10;AI-generated content may be incorrect.">
            <a:extLst>
              <a:ext uri="{FF2B5EF4-FFF2-40B4-BE49-F238E27FC236}">
                <a16:creationId xmlns:a16="http://schemas.microsoft.com/office/drawing/2014/main" id="{6EBC2D25-EB4F-C19E-DC23-8EBFF38C92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60" t="3201" r="4416" b="19526"/>
          <a:stretch>
            <a:fillRect/>
          </a:stretch>
        </p:blipFill>
        <p:spPr>
          <a:xfrm>
            <a:off x="315309" y="382313"/>
            <a:ext cx="2427891" cy="2664373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0" name="Picture 9" descr="A map of the state of wisconsin&#10;&#10;AI-generated content may be incorrect.">
            <a:extLst>
              <a:ext uri="{FF2B5EF4-FFF2-40B4-BE49-F238E27FC236}">
                <a16:creationId xmlns:a16="http://schemas.microsoft.com/office/drawing/2014/main" id="{6FEF5FD0-1EF0-0EFE-8394-FF59E3F477D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38" t="3200" r="4438" b="19527"/>
          <a:stretch>
            <a:fillRect/>
          </a:stretch>
        </p:blipFill>
        <p:spPr>
          <a:xfrm>
            <a:off x="9448799" y="382312"/>
            <a:ext cx="2427892" cy="2664373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242886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01FC9-ECA9-68FF-5734-5123CBE62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ap of the state of wisconsin&#10;&#10;AI-generated content may be incorrect.">
            <a:extLst>
              <a:ext uri="{FF2B5EF4-FFF2-40B4-BE49-F238E27FC236}">
                <a16:creationId xmlns:a16="http://schemas.microsoft.com/office/drawing/2014/main" id="{0F60B0C3-8857-7D5C-F9EC-23CC0D0870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38" t="3200" r="4438" b="19527"/>
          <a:stretch>
            <a:fillRect/>
          </a:stretch>
        </p:blipFill>
        <p:spPr>
          <a:xfrm>
            <a:off x="3337033" y="382312"/>
            <a:ext cx="2427891" cy="2664373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6" name="Picture 5" descr="A map of the state of wisconsin&#10;&#10;AI-generated content may be incorrect.">
            <a:extLst>
              <a:ext uri="{FF2B5EF4-FFF2-40B4-BE49-F238E27FC236}">
                <a16:creationId xmlns:a16="http://schemas.microsoft.com/office/drawing/2014/main" id="{3B128F7D-18F4-F481-4BF0-BA058AAF9A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38" t="3200" r="4438" b="19527"/>
          <a:stretch>
            <a:fillRect/>
          </a:stretch>
        </p:blipFill>
        <p:spPr>
          <a:xfrm>
            <a:off x="6427078" y="382312"/>
            <a:ext cx="2427891" cy="2664373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8" name="Picture 7" descr="A map of the state of wisconsin&#10;&#10;AI-generated content may be incorrect.">
            <a:extLst>
              <a:ext uri="{FF2B5EF4-FFF2-40B4-BE49-F238E27FC236}">
                <a16:creationId xmlns:a16="http://schemas.microsoft.com/office/drawing/2014/main" id="{8CFE7CA7-C86F-BCC9-319A-2B2AD9A43C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60" t="3201" r="4416" b="19526"/>
          <a:stretch>
            <a:fillRect/>
          </a:stretch>
        </p:blipFill>
        <p:spPr>
          <a:xfrm>
            <a:off x="315309" y="382313"/>
            <a:ext cx="2427891" cy="2664373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0" name="Picture 9" descr="A map of the state of wisconsin&#10;&#10;AI-generated content may be incorrect.">
            <a:extLst>
              <a:ext uri="{FF2B5EF4-FFF2-40B4-BE49-F238E27FC236}">
                <a16:creationId xmlns:a16="http://schemas.microsoft.com/office/drawing/2014/main" id="{B81EF3EB-76FE-2005-68EE-74EC70EE638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38" t="3200" r="4438" b="19527"/>
          <a:stretch>
            <a:fillRect/>
          </a:stretch>
        </p:blipFill>
        <p:spPr>
          <a:xfrm>
            <a:off x="9448799" y="382312"/>
            <a:ext cx="2427892" cy="2664373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946818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6D232-5D5E-3E85-1BE5-F98986406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DC21A-1BAB-488C-0F00-908583CC1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Herbarium Growth Over Time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47824F6-B3E7-A188-2408-3FDAAC8F1E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6725" y="1983581"/>
            <a:ext cx="6055611" cy="4351338"/>
          </a:xfrm>
          <a:ln w="19050">
            <a:solidFill>
              <a:schemeClr val="tx1"/>
            </a:solidFill>
          </a:ln>
        </p:spPr>
      </p:pic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B9BE391C-D7C3-741E-2547-C32211DD7245}"/>
              </a:ext>
            </a:extLst>
          </p:cNvPr>
          <p:cNvSpPr txBox="1">
            <a:spLocks/>
          </p:cNvSpPr>
          <p:nvPr/>
        </p:nvSpPr>
        <p:spPr>
          <a:xfrm>
            <a:off x="7000874" y="1825625"/>
            <a:ext cx="4352925" cy="466725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b="1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b="1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b="1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b="1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b="1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/>
              <a:t>Collection is founded in 1940 by John W. Thomson Jr.</a:t>
            </a:r>
          </a:p>
          <a:p>
            <a:r>
              <a:rPr lang="en-US" dirty="0"/>
              <a:t>9.5% of the collection is from 502 collections made in 1964</a:t>
            </a:r>
          </a:p>
          <a:p>
            <a:pPr lvl="1"/>
            <a:r>
              <a:rPr lang="en-US" dirty="0"/>
              <a:t>Collection grew by 40.5% in one year!</a:t>
            </a:r>
          </a:p>
        </p:txBody>
      </p:sp>
    </p:spTree>
    <p:extLst>
      <p:ext uri="{BB962C8B-B14F-4D97-AF65-F5344CB8AC3E}">
        <p14:creationId xmlns:p14="http://schemas.microsoft.com/office/powerpoint/2010/main" val="8728161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48E88-AACA-3985-7F90-93A7E52E5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9D5CB-36BB-FD90-111B-B315DC1B4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Herbarium Contributions Over Time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D92F6B0-5AF4-B2C2-6ABB-1EE1D03DEE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83939" y="1983581"/>
            <a:ext cx="6055611" cy="4351338"/>
          </a:xfrm>
          <a:ln w="19050">
            <a:solidFill>
              <a:schemeClr val="tx1"/>
            </a:solidFill>
          </a:ln>
        </p:spPr>
      </p:pic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FB366A71-5FEA-C843-4F19-3B60A085FBD2}"/>
              </a:ext>
            </a:extLst>
          </p:cNvPr>
          <p:cNvSpPr txBox="1">
            <a:spLocks/>
          </p:cNvSpPr>
          <p:nvPr/>
        </p:nvSpPr>
        <p:spPr>
          <a:xfrm>
            <a:off x="838200" y="1837531"/>
            <a:ext cx="4352925" cy="4667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b="1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b="1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b="1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b="1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b="1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/>
              <a:t>The top seven have (mostly) different periods of collecting</a:t>
            </a:r>
          </a:p>
          <a:p>
            <a:r>
              <a:rPr lang="en-US" b="0" dirty="0"/>
              <a:t>Collectors with less than 125 specimens do not often collect outside of these times</a:t>
            </a:r>
          </a:p>
        </p:txBody>
      </p:sp>
    </p:spTree>
    <p:extLst>
      <p:ext uri="{BB962C8B-B14F-4D97-AF65-F5344CB8AC3E}">
        <p14:creationId xmlns:p14="http://schemas.microsoft.com/office/powerpoint/2010/main" val="15208933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81EB5-0669-FEE4-B1C6-240FE08FF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lowchart: Process 21">
            <a:extLst>
              <a:ext uri="{FF2B5EF4-FFF2-40B4-BE49-F238E27FC236}">
                <a16:creationId xmlns:a16="http://schemas.microsoft.com/office/drawing/2014/main" id="{0E1CE006-106B-893E-34DB-37C60FE1D48F}"/>
              </a:ext>
            </a:extLst>
          </p:cNvPr>
          <p:cNvSpPr/>
          <p:nvPr/>
        </p:nvSpPr>
        <p:spPr>
          <a:xfrm>
            <a:off x="6766718" y="0"/>
            <a:ext cx="5405437" cy="5457826"/>
          </a:xfrm>
          <a:prstGeom prst="flowChartProcess">
            <a:avLst/>
          </a:prstGeom>
          <a:solidFill>
            <a:srgbClr val="FFEB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graph of numbers and a number of objects&#10;&#10;AI-generated content may be incorrect.">
            <a:extLst>
              <a:ext uri="{FF2B5EF4-FFF2-40B4-BE49-F238E27FC236}">
                <a16:creationId xmlns:a16="http://schemas.microsoft.com/office/drawing/2014/main" id="{E641E2EF-DDE4-EDAC-B0F7-1676ADD5CD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6906" y="0"/>
            <a:ext cx="9558187" cy="685800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475824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DA1E0-A71D-0B7E-772E-079EB6484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FCBBA-A81D-E357-65E9-A26178EEE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Brashier’s Co-Collectors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1EA25E5-2E7C-E26E-6801-B6462EE548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83939" y="1983581"/>
            <a:ext cx="6055611" cy="4351338"/>
          </a:xfrm>
          <a:ln w="19050">
            <a:solidFill>
              <a:schemeClr val="tx1"/>
            </a:solidFill>
          </a:ln>
        </p:spPr>
      </p:pic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CF7D7C5A-7A1D-5F1D-A761-BADE83B2B92C}"/>
              </a:ext>
            </a:extLst>
          </p:cNvPr>
          <p:cNvSpPr txBox="1">
            <a:spLocks/>
          </p:cNvSpPr>
          <p:nvPr/>
        </p:nvSpPr>
        <p:spPr>
          <a:xfrm>
            <a:off x="838200" y="1837531"/>
            <a:ext cx="4352925" cy="4667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b="1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b="1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b="1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b="1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b="1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/>
              <a:t>In 3 years, Brashier collected with 27 other people.</a:t>
            </a:r>
          </a:p>
          <a:p>
            <a:r>
              <a:rPr lang="en-US" dirty="0"/>
              <a:t>For 26 of them, it was the majority of their contribution to the collection.</a:t>
            </a:r>
          </a:p>
        </p:txBody>
      </p:sp>
    </p:spTree>
    <p:extLst>
      <p:ext uri="{BB962C8B-B14F-4D97-AF65-F5344CB8AC3E}">
        <p14:creationId xmlns:p14="http://schemas.microsoft.com/office/powerpoint/2010/main" val="16629253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B30B2-9328-8C05-80C7-4379D465F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Discussion/Conclusion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D35F3E-BEBE-DF6E-D3B1-55C2F8D6A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SUWS has unique characteristics</a:t>
            </a:r>
          </a:p>
          <a:p>
            <a:r>
              <a:rPr lang="en-US" dirty="0"/>
              <a:t>Data will change if/when digitization takes place</a:t>
            </a:r>
          </a:p>
          <a:p>
            <a:r>
              <a:rPr lang="en-US" dirty="0"/>
              <a:t>Change for the better – do some cool projects!</a:t>
            </a:r>
          </a:p>
        </p:txBody>
      </p:sp>
    </p:spTree>
    <p:extLst>
      <p:ext uri="{BB962C8B-B14F-4D97-AF65-F5344CB8AC3E}">
        <p14:creationId xmlns:p14="http://schemas.microsoft.com/office/powerpoint/2010/main" val="26078336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E08D7-9606-B8EB-D9AE-1BAC9405B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 Cited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11AB6A-623A-5E8D-5AE4-A8FF90E78E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1743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A95F1-3638-138D-2DB4-9A7076E5B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Acknowledgements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A9C99F-D83D-4AD1-5C0D-59E9B3575F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8906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92DC8-1A2F-EE8C-F057-55F01065C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702AF4-55A5-7CF6-C5FA-0ECF856CCB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4564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2799</TotalTime>
  <Words>1456</Words>
  <Application>Microsoft Office PowerPoint</Application>
  <PresentationFormat>Widescreen</PresentationFormat>
  <Paragraphs>168</Paragraphs>
  <Slides>29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Aptos</vt:lpstr>
      <vt:lpstr>Arial</vt:lpstr>
      <vt:lpstr>Tahoma</vt:lpstr>
      <vt:lpstr>Office Theme</vt:lpstr>
      <vt:lpstr>The Applications of GIS in Understanding Collection Characteristics of the Donald W. Davidson Herbarium (SUWS)</vt:lpstr>
      <vt:lpstr>PowerPoint Presentation</vt:lpstr>
      <vt:lpstr>PowerPoint Presentation</vt:lpstr>
      <vt:lpstr>What is an herbarium?</vt:lpstr>
      <vt:lpstr>Collection Biases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Methods</vt:lpstr>
      <vt:lpstr>How many specimens and  collectors are there?</vt:lpstr>
      <vt:lpstr>Where were specimens collected?</vt:lpstr>
      <vt:lpstr>Where were specimens collected?</vt:lpstr>
      <vt:lpstr>PowerPoint Presentation</vt:lpstr>
      <vt:lpstr>Is the collection dominated  by small or large collectors?</vt:lpstr>
      <vt:lpstr>Who are the top collectors?</vt:lpstr>
      <vt:lpstr>PowerPoint Presentation</vt:lpstr>
      <vt:lpstr>PowerPoint Presentation</vt:lpstr>
      <vt:lpstr>Herbarium Growth Over Time</vt:lpstr>
      <vt:lpstr>Herbarium Contributions Over Time</vt:lpstr>
      <vt:lpstr>PowerPoint Presentation</vt:lpstr>
      <vt:lpstr>Brashier’s Co-Collectors</vt:lpstr>
      <vt:lpstr>Discussion/Conclusion</vt:lpstr>
      <vt:lpstr>Literature Cited</vt:lpstr>
      <vt:lpstr>Acknowledgements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Holl,Lillian L</dc:creator>
  <cp:lastModifiedBy>Lillian Holl</cp:lastModifiedBy>
  <cp:revision>2</cp:revision>
  <dcterms:created xsi:type="dcterms:W3CDTF">2025-11-12T21:41:41Z</dcterms:created>
  <dcterms:modified xsi:type="dcterms:W3CDTF">2025-11-20T03:32:55Z</dcterms:modified>
</cp:coreProperties>
</file>